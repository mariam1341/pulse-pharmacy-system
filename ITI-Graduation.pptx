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78" r:id="rId10"/>
    <p:sldId id="277" r:id="rId11"/>
    <p:sldId id="267" r:id="rId12"/>
    <p:sldId id="291" r:id="rId13"/>
    <p:sldId id="292" r:id="rId14"/>
    <p:sldId id="282" r:id="rId15"/>
    <p:sldId id="288" r:id="rId16"/>
    <p:sldId id="271" r:id="rId17"/>
    <p:sldId id="289" r:id="rId18"/>
    <p:sldId id="272" r:id="rId19"/>
    <p:sldId id="290" r:id="rId20"/>
    <p:sldId id="286" r:id="rId21"/>
  </p:sldIdLst>
  <p:sldSz cx="12192000" cy="6858000"/>
  <p:notesSz cx="6858000" cy="9144000"/>
  <p:embeddedFontLst>
    <p:embeddedFont>
      <p:font typeface="Inter" panose="020B0604020202020204" charset="0"/>
      <p:regular r:id="rId23"/>
      <p:bold r:id="rId24"/>
      <p:italic r:id="rId25"/>
      <p:boldItalic r:id="rId26"/>
    </p:embeddedFont>
    <p:embeddedFont>
      <p:font typeface="Inter Medium" panose="020B0604020202020204" charset="0"/>
      <p:regular r:id="rId27"/>
      <p:bold r:id="rId28"/>
      <p:italic r:id="rId29"/>
      <p:boldItalic r:id="rId30"/>
    </p:embeddedFont>
    <p:embeddedFont>
      <p:font typeface="Inter SemiBold" panose="020B0604020202020204" charset="0"/>
      <p:regular r:id="rId31"/>
      <p:bold r:id="rId32"/>
      <p:italic r:id="rId33"/>
      <p:boldItalic r:id="rId34"/>
    </p:embeddedFont>
    <p:embeddedFont>
      <p:font typeface="Lato" panose="020F0502020204030203" pitchFamily="34" charset="0"/>
      <p:regular r:id="rId35"/>
      <p:bold r:id="rId36"/>
      <p:italic r:id="rId37"/>
      <p:boldItalic r:id="rId38"/>
    </p:embeddedFont>
    <p:embeddedFont>
      <p:font typeface="Poppins" panose="00000500000000000000" pitchFamily="2" charset="0"/>
      <p:regular r:id="rId39"/>
      <p:bold r:id="rId40"/>
      <p:italic r:id="rId41"/>
      <p:boldItalic r:id="rId42"/>
    </p:embeddedFont>
    <p:embeddedFont>
      <p:font typeface="Poppins ExtraBold" panose="00000900000000000000" pitchFamily="2" charset="0"/>
      <p:bold r:id="rId43"/>
      <p:boldItalic r:id="rId44"/>
    </p:embeddedFont>
    <p:embeddedFont>
      <p:font typeface="Poppins SemiBold" panose="00000700000000000000" pitchFamily="2" charset="0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2F2B311-8B33-47E2-82F6-682403EDEE06}">
  <a:tblStyle styleId="{32F2B311-8B33-47E2-82F6-682403EDEE0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71" autoAdjust="0"/>
    <p:restoredTop sz="94660"/>
  </p:normalViewPr>
  <p:slideViewPr>
    <p:cSldViewPr snapToGrid="0">
      <p:cViewPr varScale="1">
        <p:scale>
          <a:sx n="93" d="100"/>
          <a:sy n="93" d="100"/>
        </p:scale>
        <p:origin x="10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openxmlformats.org/officeDocument/2006/relationships/font" Target="fonts/font20.fntdata"/><Relationship Id="rId47" Type="http://schemas.openxmlformats.org/officeDocument/2006/relationships/font" Target="fonts/font25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7.fntdata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font" Target="fonts/font18.fntdata"/><Relationship Id="rId45" Type="http://schemas.openxmlformats.org/officeDocument/2006/relationships/font" Target="fonts/font2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4" Type="http://schemas.openxmlformats.org/officeDocument/2006/relationships/font" Target="fonts/font22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openxmlformats.org/officeDocument/2006/relationships/font" Target="fonts/font21.fntdata"/><Relationship Id="rId48" Type="http://schemas.openxmlformats.org/officeDocument/2006/relationships/font" Target="fonts/font26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Relationship Id="rId46" Type="http://schemas.openxmlformats.org/officeDocument/2006/relationships/font" Target="fonts/font24.fntdata"/><Relationship Id="rId20" Type="http://schemas.openxmlformats.org/officeDocument/2006/relationships/slide" Target="slides/slide19.xml"/><Relationship Id="rId41" Type="http://schemas.openxmlformats.org/officeDocument/2006/relationships/font" Target="fonts/font1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0" name="Google Shape;14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2" name="Google Shape;16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>
          <a:extLst>
            <a:ext uri="{FF2B5EF4-FFF2-40B4-BE49-F238E27FC236}">
              <a16:creationId xmlns:a16="http://schemas.microsoft.com/office/drawing/2014/main" id="{2A5C3BF2-5529-CDAB-D52C-3FC490DEC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1:notes">
            <a:extLst>
              <a:ext uri="{FF2B5EF4-FFF2-40B4-BE49-F238E27FC236}">
                <a16:creationId xmlns:a16="http://schemas.microsoft.com/office/drawing/2014/main" id="{EE15D9C9-B8D3-1199-EC90-F3E47470A0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11:notes">
            <a:extLst>
              <a:ext uri="{FF2B5EF4-FFF2-40B4-BE49-F238E27FC236}">
                <a16:creationId xmlns:a16="http://schemas.microsoft.com/office/drawing/2014/main" id="{2D737471-3657-3EF5-1826-776E640221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23707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571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>
          <a:extLst>
            <a:ext uri="{FF2B5EF4-FFF2-40B4-BE49-F238E27FC236}">
              <a16:creationId xmlns:a16="http://schemas.microsoft.com/office/drawing/2014/main" id="{88B982EF-65DE-6DC5-780B-3E91F5AE9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2:notes">
            <a:extLst>
              <a:ext uri="{FF2B5EF4-FFF2-40B4-BE49-F238E27FC236}">
                <a16:creationId xmlns:a16="http://schemas.microsoft.com/office/drawing/2014/main" id="{0E75AC23-6172-3293-AFBF-313F2BD611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12:notes">
            <a:extLst>
              <a:ext uri="{FF2B5EF4-FFF2-40B4-BE49-F238E27FC236}">
                <a16:creationId xmlns:a16="http://schemas.microsoft.com/office/drawing/2014/main" id="{23F312EB-E3E0-40AF-5732-CB275FABE0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602654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>
          <a:extLst>
            <a:ext uri="{FF2B5EF4-FFF2-40B4-BE49-F238E27FC236}">
              <a16:creationId xmlns:a16="http://schemas.microsoft.com/office/drawing/2014/main" id="{8B5A0E5F-CE97-9BC5-C980-43D0A9418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2:notes">
            <a:extLst>
              <a:ext uri="{FF2B5EF4-FFF2-40B4-BE49-F238E27FC236}">
                <a16:creationId xmlns:a16="http://schemas.microsoft.com/office/drawing/2014/main" id="{68ADA4D8-BCC8-A083-FF98-D945E251AC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12:notes">
            <a:extLst>
              <a:ext uri="{FF2B5EF4-FFF2-40B4-BE49-F238E27FC236}">
                <a16:creationId xmlns:a16="http://schemas.microsoft.com/office/drawing/2014/main" id="{7AF24F05-C054-7A1C-C460-5F37A32DB1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745988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>
          <a:extLst>
            <a:ext uri="{FF2B5EF4-FFF2-40B4-BE49-F238E27FC236}">
              <a16:creationId xmlns:a16="http://schemas.microsoft.com/office/drawing/2014/main" id="{ABDAC6CF-4FFB-E32D-BDF5-A0047348F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2:notes">
            <a:extLst>
              <a:ext uri="{FF2B5EF4-FFF2-40B4-BE49-F238E27FC236}">
                <a16:creationId xmlns:a16="http://schemas.microsoft.com/office/drawing/2014/main" id="{D0A74322-666A-B708-71EA-50042AC55B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12:notes">
            <a:extLst>
              <a:ext uri="{FF2B5EF4-FFF2-40B4-BE49-F238E27FC236}">
                <a16:creationId xmlns:a16="http://schemas.microsoft.com/office/drawing/2014/main" id="{C5015273-1EBB-FF4D-023A-C6CDA8C359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036844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37F4F-B2F9-2A82-50B9-96B8A2F89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074B10-AE6B-1A1A-BCDA-2664201DDE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8914F5-2761-EC39-E05A-31BD683187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0871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2F8DF-EFDD-8088-BF9D-A49898EFE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DD3676-8FD3-6BF2-3E3C-73189F4B22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F7B0B2-657C-AB9B-3FEF-34C2DE099A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1702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>
          <a:extLst>
            <a:ext uri="{FF2B5EF4-FFF2-40B4-BE49-F238E27FC236}">
              <a16:creationId xmlns:a16="http://schemas.microsoft.com/office/drawing/2014/main" id="{B01269F3-70E4-4E2D-60BD-0F07CCC6B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17:notes">
            <a:extLst>
              <a:ext uri="{FF2B5EF4-FFF2-40B4-BE49-F238E27FC236}">
                <a16:creationId xmlns:a16="http://schemas.microsoft.com/office/drawing/2014/main" id="{38AF2181-54DD-3429-3C82-B516B6E0B5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22" name="Google Shape;622;p17:notes">
            <a:extLst>
              <a:ext uri="{FF2B5EF4-FFF2-40B4-BE49-F238E27FC236}">
                <a16:creationId xmlns:a16="http://schemas.microsoft.com/office/drawing/2014/main" id="{70D6C523-7FEE-CE6E-5007-533E4DE2B9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29635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4394D61D-79E2-14AF-E196-77D49A4C4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18:notes">
            <a:extLst>
              <a:ext uri="{FF2B5EF4-FFF2-40B4-BE49-F238E27FC236}">
                <a16:creationId xmlns:a16="http://schemas.microsoft.com/office/drawing/2014/main" id="{D200C823-760B-C7F8-CC87-AB7DBC0422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18:notes">
            <a:extLst>
              <a:ext uri="{FF2B5EF4-FFF2-40B4-BE49-F238E27FC236}">
                <a16:creationId xmlns:a16="http://schemas.microsoft.com/office/drawing/2014/main" id="{73DDF72D-D52D-3509-10F2-6AC73A5FB4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9738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2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.png"/><Relationship Id="rId9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43.png"/><Relationship Id="rId3" Type="http://schemas.openxmlformats.org/officeDocument/2006/relationships/image" Target="../media/image2.png"/><Relationship Id="rId7" Type="http://schemas.openxmlformats.org/officeDocument/2006/relationships/image" Target="../media/image31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1.png"/><Relationship Id="rId5" Type="http://schemas.openxmlformats.org/officeDocument/2006/relationships/image" Target="../media/image38.png"/><Relationship Id="rId10" Type="http://schemas.openxmlformats.org/officeDocument/2006/relationships/image" Target="../media/image40.png"/><Relationship Id="rId4" Type="http://schemas.openxmlformats.org/officeDocument/2006/relationships/image" Target="../media/image37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3" Type="http://schemas.openxmlformats.org/officeDocument/2006/relationships/image" Target="../media/image1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2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7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7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60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0" Type="http://schemas.openxmlformats.org/officeDocument/2006/relationships/image" Target="../media/image66.png"/><Relationship Id="rId4" Type="http://schemas.openxmlformats.org/officeDocument/2006/relationships/image" Target="../media/image2.png"/><Relationship Id="rId9" Type="http://schemas.openxmlformats.org/officeDocument/2006/relationships/image" Target="../media/image6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3" Type="http://schemas.openxmlformats.org/officeDocument/2006/relationships/image" Target="../media/image1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7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5" Type="http://schemas.openxmlformats.org/officeDocument/2006/relationships/image" Target="../media/image78.png"/><Relationship Id="rId10" Type="http://schemas.openxmlformats.org/officeDocument/2006/relationships/image" Target="../media/image73.png"/><Relationship Id="rId4" Type="http://schemas.openxmlformats.org/officeDocument/2006/relationships/image" Target="../media/image2.png"/><Relationship Id="rId9" Type="http://schemas.openxmlformats.org/officeDocument/2006/relationships/image" Target="../media/image72.png"/><Relationship Id="rId14" Type="http://schemas.openxmlformats.org/officeDocument/2006/relationships/image" Target="../media/image7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6257925"/>
            <a:ext cx="106680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4283273"/>
            <a:ext cx="85725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3270646" y="2907952"/>
            <a:ext cx="5650706" cy="67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 dirty="0">
                <a:solidFill>
                  <a:srgbClr val="E6000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PULSE PHARMACY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4043362" y="3673673"/>
            <a:ext cx="41052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Smart Pharmacy Management System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762000" y="6424612"/>
            <a:ext cx="3214687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SERVICENOW SMART PHARMACY MANAGEMENT SYSTEM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1296650" y="6410325"/>
            <a:ext cx="1333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E60000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809750" y="4588073"/>
            <a:ext cx="2667000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 dirty="0">
                <a:solidFill>
                  <a:srgbClr val="E60000"/>
                </a:solidFill>
                <a:latin typeface="Inter"/>
                <a:ea typeface="Inter"/>
                <a:cs typeface="Inter"/>
                <a:sym typeface="Inter"/>
              </a:rPr>
              <a:t>PLATFORM </a:t>
            </a:r>
            <a:endParaRPr dirty="0"/>
          </a:p>
        </p:txBody>
      </p:sp>
      <p:sp>
        <p:nvSpPr>
          <p:cNvPr id="93" name="Google Shape;93;p13"/>
          <p:cNvSpPr txBox="1"/>
          <p:nvPr/>
        </p:nvSpPr>
        <p:spPr>
          <a:xfrm>
            <a:off x="1809750" y="4759523"/>
            <a:ext cx="26670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ServiceNow PDI Scoped Application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7715250" y="4588073"/>
            <a:ext cx="26670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E60000"/>
                </a:solidFill>
                <a:latin typeface="Inter"/>
                <a:ea typeface="Inter"/>
                <a:cs typeface="Inter"/>
                <a:sym typeface="Inter"/>
              </a:rPr>
              <a:t>PRESENTED BY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7715250" y="4759523"/>
            <a:ext cx="26670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Mariam Mohammed</a:t>
            </a:r>
            <a:endParaRPr dirty="0"/>
          </a:p>
        </p:txBody>
      </p:sp>
      <p:sp>
        <p:nvSpPr>
          <p:cNvPr id="2" name="Google Shape;97;p13">
            <a:extLst>
              <a:ext uri="{FF2B5EF4-FFF2-40B4-BE49-F238E27FC236}">
                <a16:creationId xmlns:a16="http://schemas.microsoft.com/office/drawing/2014/main" id="{D342D898-1722-EE91-4662-BC30B569EB37}"/>
              </a:ext>
            </a:extLst>
          </p:cNvPr>
          <p:cNvSpPr txBox="1"/>
          <p:nvPr/>
        </p:nvSpPr>
        <p:spPr>
          <a:xfrm>
            <a:off x="4762499" y="4683323"/>
            <a:ext cx="26670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ITI Graduation Project · </a:t>
            </a:r>
            <a:r>
              <a:rPr lang="en-US" sz="1050" dirty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2026</a:t>
            </a:r>
            <a:endParaRPr dirty="0"/>
          </a:p>
        </p:txBody>
      </p:sp>
      <p:pic>
        <p:nvPicPr>
          <p:cNvPr id="3" name="Google Shape;90;p13" descr="image.png">
            <a:extLst>
              <a:ext uri="{FF2B5EF4-FFF2-40B4-BE49-F238E27FC236}">
                <a16:creationId xmlns:a16="http://schemas.microsoft.com/office/drawing/2014/main" id="{BAF00DFF-D899-EBF1-A6F6-956A1F9AB01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19749" y="1622077"/>
            <a:ext cx="952500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6257925"/>
            <a:ext cx="106680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232719"/>
            <a:ext cx="2524125" cy="1510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76625" y="2232719"/>
            <a:ext cx="2524125" cy="1510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1250" y="2232719"/>
            <a:ext cx="2524125" cy="1510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905875" y="2232719"/>
            <a:ext cx="2524125" cy="1510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3933825"/>
            <a:ext cx="2524125" cy="1510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76625" y="3933825"/>
            <a:ext cx="2524125" cy="1510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191250" y="3933825"/>
            <a:ext cx="5238750" cy="151060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762000" y="571500"/>
            <a:ext cx="92011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E60000"/>
                </a:solidFill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762000" y="6424612"/>
            <a:ext cx="3214687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SERVICENOW SMART PHARMACY MANAGEMENT SYSTEM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11277600" y="6410325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E60000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1028700" y="2470844"/>
            <a:ext cx="3619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E60000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dirty="0"/>
          </a:p>
        </p:txBody>
      </p:sp>
      <p:sp>
        <p:nvSpPr>
          <p:cNvPr id="117" name="Google Shape;117;p14"/>
          <p:cNvSpPr txBox="1"/>
          <p:nvPr/>
        </p:nvSpPr>
        <p:spPr>
          <a:xfrm>
            <a:off x="1028700" y="2918519"/>
            <a:ext cx="16097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Problem &amp; Objectives</a:t>
            </a:r>
            <a:endParaRPr dirty="0"/>
          </a:p>
        </p:txBody>
      </p:sp>
      <p:sp>
        <p:nvSpPr>
          <p:cNvPr id="118" name="Google Shape;118;p14"/>
          <p:cNvSpPr txBox="1"/>
          <p:nvPr/>
        </p:nvSpPr>
        <p:spPr>
          <a:xfrm>
            <a:off x="1028700" y="3185219"/>
            <a:ext cx="20193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Why Pulse Pharmacy exists &amp; manual operation challenges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3714750" y="2470844"/>
            <a:ext cx="4851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E60000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3714750" y="2918519"/>
            <a:ext cx="16002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Solution Architecture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3714750" y="3185219"/>
            <a:ext cx="204787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Data model, role-based controls &amp; custom portal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6429375" y="2470844"/>
            <a:ext cx="5905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E60000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dirty="0"/>
          </a:p>
        </p:txBody>
      </p:sp>
      <p:sp>
        <p:nvSpPr>
          <p:cNvPr id="123" name="Google Shape;123;p14"/>
          <p:cNvSpPr txBox="1"/>
          <p:nvPr/>
        </p:nvSpPr>
        <p:spPr>
          <a:xfrm>
            <a:off x="6429375" y="2918519"/>
            <a:ext cx="1285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Core Automation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6429375" y="3185219"/>
            <a:ext cx="204787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Flow designer, client/server logic &amp; SLAs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9144000" y="2470844"/>
            <a:ext cx="5143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E60000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dirty="0"/>
          </a:p>
        </p:txBody>
      </p:sp>
      <p:sp>
        <p:nvSpPr>
          <p:cNvPr id="126" name="Google Shape;126;p14"/>
          <p:cNvSpPr txBox="1"/>
          <p:nvPr/>
        </p:nvSpPr>
        <p:spPr>
          <a:xfrm>
            <a:off x="9144000" y="2918519"/>
            <a:ext cx="11239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Safety &amp; Alerts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9144000" y="3185219"/>
            <a:ext cx="204787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Daily safety checking systems &amp; low stock alerts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1000125" y="4171950"/>
            <a:ext cx="5429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E60000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 dirty="0"/>
          </a:p>
        </p:txBody>
      </p:sp>
      <p:sp>
        <p:nvSpPr>
          <p:cNvPr id="129" name="Google Shape;129;p14"/>
          <p:cNvSpPr txBox="1"/>
          <p:nvPr/>
        </p:nvSpPr>
        <p:spPr>
          <a:xfrm>
            <a:off x="1000125" y="4619625"/>
            <a:ext cx="16859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Dashboards &amp; Reports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1000125" y="4886325"/>
            <a:ext cx="204787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Operational reports for admins &amp; pharmacists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3714750" y="4171950"/>
            <a:ext cx="6552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E60000"/>
                </a:solidFill>
                <a:latin typeface="Poppins"/>
                <a:ea typeface="Poppins"/>
                <a:cs typeface="Poppins"/>
                <a:sym typeface="Poppins"/>
              </a:rPr>
              <a:t>06</a:t>
            </a:r>
            <a:endParaRPr dirty="0"/>
          </a:p>
        </p:txBody>
      </p:sp>
      <p:sp>
        <p:nvSpPr>
          <p:cNvPr id="132" name="Google Shape;132;p14"/>
          <p:cNvSpPr txBox="1"/>
          <p:nvPr/>
        </p:nvSpPr>
        <p:spPr>
          <a:xfrm>
            <a:off x="3714750" y="4619625"/>
            <a:ext cx="14668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Live Demo Journey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3714750" y="4886325"/>
            <a:ext cx="204787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Complete walk-through of the medicine workflow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6429375" y="4171950"/>
            <a:ext cx="5905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E60000"/>
                </a:solidFill>
                <a:latin typeface="Poppins"/>
                <a:ea typeface="Poppins"/>
                <a:cs typeface="Poppins"/>
                <a:sym typeface="Poppins"/>
              </a:rPr>
              <a:t>07</a:t>
            </a:r>
            <a:endParaRPr dirty="0"/>
          </a:p>
        </p:txBody>
      </p:sp>
      <p:sp>
        <p:nvSpPr>
          <p:cNvPr id="135" name="Google Shape;135;p14"/>
          <p:cNvSpPr txBox="1"/>
          <p:nvPr/>
        </p:nvSpPr>
        <p:spPr>
          <a:xfrm>
            <a:off x="6429375" y="4619625"/>
            <a:ext cx="22383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Challenges, Learnings &amp; ITSM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6429375" y="4886325"/>
            <a:ext cx="3505200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Resolved barriers, cross-scope enablement &amp; Incident workflows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6257925"/>
            <a:ext cx="106680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00850" y="2028825"/>
            <a:ext cx="46291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5"/>
          <p:cNvSpPr txBox="1"/>
          <p:nvPr/>
        </p:nvSpPr>
        <p:spPr>
          <a:xfrm>
            <a:off x="762000" y="571500"/>
            <a:ext cx="92011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E60000"/>
                </a:solidFill>
                <a:latin typeface="Poppins"/>
                <a:ea typeface="Poppins"/>
                <a:cs typeface="Poppins"/>
                <a:sym typeface="Poppins"/>
              </a:rPr>
              <a:t>PROBLEM STATEMENT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762000" y="6424612"/>
            <a:ext cx="1233487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PROBLEM STATEMENT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11277600" y="6410325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E60000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762000" y="2400300"/>
            <a:ext cx="594074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6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Manual Operations Create Critical Patient Risks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1095375" y="2876550"/>
            <a:ext cx="53244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Stock Blindness: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No automated alerts when medicines run low. Staff discover critical shortages only when a customer requests.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1095375" y="3524250"/>
            <a:ext cx="53244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Expiry Risks: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Expired stock checked manually. 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Missed entries cause compliance and patient safety violations.</a:t>
            </a:r>
            <a:endParaRPr dirty="0"/>
          </a:p>
        </p:txBody>
      </p:sp>
      <p:sp>
        <p:nvSpPr>
          <p:cNvPr id="153" name="Google Shape;153;p15"/>
          <p:cNvSpPr txBox="1"/>
          <p:nvPr/>
        </p:nvSpPr>
        <p:spPr>
          <a:xfrm>
            <a:off x="1095375" y="4171950"/>
            <a:ext cx="53244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Paper Requests: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Customers must call or visit physically to request medicines. No automated tracking or status visibility.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1095375" y="4819650"/>
            <a:ext cx="53244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No SLA Visibility: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Complaints and requests sit without defined deadlines. No alert mechanisms when service levels breach.</a:t>
            </a:r>
            <a:endParaRPr/>
          </a:p>
        </p:txBody>
      </p:sp>
      <p:pic>
        <p:nvPicPr>
          <p:cNvPr id="155" name="Google Shape;15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5334" y="2947988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5334" y="3595688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5334" y="4243388"/>
            <a:ext cx="1333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65334" y="4891088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235FFE0-7FE2-D467-35C1-06DCDC4809D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00850" y="1960151"/>
            <a:ext cx="4727258" cy="38459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6257925"/>
            <a:ext cx="106680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1819275"/>
            <a:ext cx="3403550" cy="22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94150" y="1819275"/>
            <a:ext cx="3403550" cy="22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26300" y="1819275"/>
            <a:ext cx="3403699" cy="22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286250"/>
            <a:ext cx="3403550" cy="22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94150" y="4286250"/>
            <a:ext cx="3403550" cy="22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26300" y="4286250"/>
            <a:ext cx="3403699" cy="223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6"/>
          <p:cNvSpPr txBox="1"/>
          <p:nvPr/>
        </p:nvSpPr>
        <p:spPr>
          <a:xfrm>
            <a:off x="762000" y="571500"/>
            <a:ext cx="92011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E60000"/>
                </a:solidFill>
                <a:latin typeface="Poppins"/>
                <a:ea typeface="Poppins"/>
                <a:cs typeface="Poppins"/>
                <a:sym typeface="Poppins"/>
              </a:rPr>
              <a:t>PROJECT OBJECTIVES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762000" y="1295400"/>
            <a:ext cx="112014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What the Pulse Pharmacy Scoped ServiceNow Application Delivers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11268075" y="6410325"/>
            <a:ext cx="1619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E60000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/>
          </a:p>
        </p:txBody>
      </p:sp>
      <p:pic>
        <p:nvPicPr>
          <p:cNvPr id="178" name="Google Shape;178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57275" y="21431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6"/>
          <p:cNvSpPr txBox="1"/>
          <p:nvPr/>
        </p:nvSpPr>
        <p:spPr>
          <a:xfrm>
            <a:off x="1057275" y="2809875"/>
            <a:ext cx="29536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Digitized Inventory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1057275" y="3162300"/>
            <a:ext cx="2813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Track medicine inventory in real-time with automatic status checking and expiration date controls.</a:t>
            </a:r>
            <a:endParaRPr/>
          </a:p>
        </p:txBody>
      </p:sp>
      <p:pic>
        <p:nvPicPr>
          <p:cNvPr id="181" name="Google Shape;181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689425" y="21431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6"/>
          <p:cNvSpPr txBox="1"/>
          <p:nvPr/>
        </p:nvSpPr>
        <p:spPr>
          <a:xfrm>
            <a:off x="4689425" y="2809875"/>
            <a:ext cx="29536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Service Portal</a:t>
            </a:r>
            <a:endParaRPr/>
          </a:p>
        </p:txBody>
      </p:sp>
      <p:sp>
        <p:nvSpPr>
          <p:cNvPr id="183" name="Google Shape;183;p16"/>
          <p:cNvSpPr txBox="1"/>
          <p:nvPr/>
        </p:nvSpPr>
        <p:spPr>
          <a:xfrm>
            <a:off x="4689425" y="3162300"/>
            <a:ext cx="2813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Enable customers to request medicines 24/7 directly via a modern, highly responsive self-service portal.</a:t>
            </a:r>
            <a:endParaRPr/>
          </a:p>
        </p:txBody>
      </p:sp>
      <p:pic>
        <p:nvPicPr>
          <p:cNvPr id="184" name="Google Shape;184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321575" y="21431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6"/>
          <p:cNvSpPr txBox="1"/>
          <p:nvPr/>
        </p:nvSpPr>
        <p:spPr>
          <a:xfrm>
            <a:off x="8321575" y="2809875"/>
            <a:ext cx="2953806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Automated Workflows</a:t>
            </a:r>
            <a:endParaRPr/>
          </a:p>
        </p:txBody>
      </p:sp>
      <p:sp>
        <p:nvSpPr>
          <p:cNvPr id="186" name="Google Shape;186;p16"/>
          <p:cNvSpPr txBox="1"/>
          <p:nvPr/>
        </p:nvSpPr>
        <p:spPr>
          <a:xfrm>
            <a:off x="8321575" y="3162300"/>
            <a:ext cx="2813149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Automate Approval → Preparation → Handover lifecycle processes utilizing ServiceNow Flow Designer.</a:t>
            </a:r>
            <a:endParaRPr/>
          </a:p>
        </p:txBody>
      </p:sp>
      <p:pic>
        <p:nvPicPr>
          <p:cNvPr id="187" name="Google Shape;187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57275" y="461010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6"/>
          <p:cNvSpPr txBox="1"/>
          <p:nvPr/>
        </p:nvSpPr>
        <p:spPr>
          <a:xfrm>
            <a:off x="1057275" y="5276850"/>
            <a:ext cx="29536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Proactive Alerts</a:t>
            </a:r>
            <a:endParaRPr/>
          </a:p>
        </p:txBody>
      </p:sp>
      <p:sp>
        <p:nvSpPr>
          <p:cNvPr id="189" name="Google Shape;189;p16"/>
          <p:cNvSpPr txBox="1"/>
          <p:nvPr/>
        </p:nvSpPr>
        <p:spPr>
          <a:xfrm>
            <a:off x="1057275" y="5629275"/>
            <a:ext cx="2813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Trigger instant automated low-stock notifications and expiry alerts to prevent pharmaceutical service failures.</a:t>
            </a:r>
            <a:endParaRPr/>
          </a:p>
        </p:txBody>
      </p:sp>
      <p:pic>
        <p:nvPicPr>
          <p:cNvPr id="190" name="Google Shape;190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689425" y="461010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6"/>
          <p:cNvSpPr txBox="1"/>
          <p:nvPr/>
        </p:nvSpPr>
        <p:spPr>
          <a:xfrm>
            <a:off x="4689425" y="5276850"/>
            <a:ext cx="29536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SLA Enforcement</a:t>
            </a:r>
            <a:endParaRPr/>
          </a:p>
        </p:txBody>
      </p:sp>
      <p:sp>
        <p:nvSpPr>
          <p:cNvPr id="192" name="Google Shape;192;p16"/>
          <p:cNvSpPr txBox="1"/>
          <p:nvPr/>
        </p:nvSpPr>
        <p:spPr>
          <a:xfrm>
            <a:off x="4689425" y="5629275"/>
            <a:ext cx="2813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Enforce strict operational SLAs on patient requests and complaints with dynamic visual breach alerts.</a:t>
            </a:r>
            <a:endParaRPr/>
          </a:p>
        </p:txBody>
      </p:sp>
      <p:pic>
        <p:nvPicPr>
          <p:cNvPr id="193" name="Google Shape;193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321575" y="461010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6"/>
          <p:cNvSpPr txBox="1"/>
          <p:nvPr/>
        </p:nvSpPr>
        <p:spPr>
          <a:xfrm>
            <a:off x="8321575" y="5276850"/>
            <a:ext cx="2953806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Operational Visibility</a:t>
            </a: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8321575" y="5629275"/>
            <a:ext cx="2813149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Provide centralized interactive Dashboards for real-time overview to Administrators and Pharmacists.</a:t>
            </a:r>
            <a:endParaRPr/>
          </a:p>
        </p:txBody>
      </p:sp>
      <p:pic>
        <p:nvPicPr>
          <p:cNvPr id="196" name="Google Shape;196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813250" y="22669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6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416825" y="226695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195387" y="473392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6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827537" y="473392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6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431113" y="4733925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660;p21" descr="image.png">
            <a:extLst>
              <a:ext uri="{FF2B5EF4-FFF2-40B4-BE49-F238E27FC236}">
                <a16:creationId xmlns:a16="http://schemas.microsoft.com/office/drawing/2014/main" id="{063F4595-563D-A2A8-058E-13837E991978}"/>
              </a:ext>
            </a:extLst>
          </p:cNvPr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166813" y="2266950"/>
            <a:ext cx="2857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6257925"/>
            <a:ext cx="106680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00850" y="2490787"/>
            <a:ext cx="4629150" cy="317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2490787"/>
            <a:ext cx="5657850" cy="96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3595687"/>
            <a:ext cx="5657850" cy="96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4700587"/>
            <a:ext cx="5657850" cy="96202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7"/>
          <p:cNvSpPr txBox="1"/>
          <p:nvPr/>
        </p:nvSpPr>
        <p:spPr>
          <a:xfrm>
            <a:off x="762000" y="571500"/>
            <a:ext cx="92011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E60000"/>
                </a:solidFill>
                <a:latin typeface="Poppins"/>
                <a:ea typeface="Poppins"/>
                <a:cs typeface="Poppins"/>
                <a:sym typeface="Poppins"/>
              </a:rPr>
              <a:t>SOLUTION OVERVIEW</a:t>
            </a:r>
            <a:endParaRPr/>
          </a:p>
        </p:txBody>
      </p:sp>
      <p:sp>
        <p:nvSpPr>
          <p:cNvPr id="215" name="Google Shape;215;p17"/>
          <p:cNvSpPr txBox="1"/>
          <p:nvPr/>
        </p:nvSpPr>
        <p:spPr>
          <a:xfrm>
            <a:off x="762000" y="2014537"/>
            <a:ext cx="112014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System Architecture on ServiceNow Personal Developer Instance (PDI)</a:t>
            </a:r>
            <a:endParaRPr/>
          </a:p>
        </p:txBody>
      </p:sp>
      <p:sp>
        <p:nvSpPr>
          <p:cNvPr id="216" name="Google Shape;216;p17"/>
          <p:cNvSpPr txBox="1"/>
          <p:nvPr/>
        </p:nvSpPr>
        <p:spPr>
          <a:xfrm>
            <a:off x="762000" y="6424612"/>
            <a:ext cx="1366837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SYSTEM ARCHITECTURE</a:t>
            </a:r>
            <a:endParaRPr/>
          </a:p>
        </p:txBody>
      </p:sp>
      <p:sp>
        <p:nvSpPr>
          <p:cNvPr id="217" name="Google Shape;217;p17"/>
          <p:cNvSpPr txBox="1"/>
          <p:nvPr/>
        </p:nvSpPr>
        <p:spPr>
          <a:xfrm>
            <a:off x="11277600" y="6410325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E60000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/>
          </a:p>
        </p:txBody>
      </p:sp>
      <p:sp>
        <p:nvSpPr>
          <p:cNvPr id="218" name="Google Shape;218;p17"/>
          <p:cNvSpPr txBox="1"/>
          <p:nvPr/>
        </p:nvSpPr>
        <p:spPr>
          <a:xfrm>
            <a:off x="7105650" y="3150840"/>
            <a:ext cx="40195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E60000"/>
                </a:solidFill>
                <a:latin typeface="Poppins"/>
                <a:ea typeface="Poppins"/>
                <a:cs typeface="Poppins"/>
                <a:sym typeface="Poppins"/>
              </a:rPr>
              <a:t>APPLICATION CONFIGURATION</a:t>
            </a:r>
            <a:endParaRPr/>
          </a:p>
        </p:txBody>
      </p:sp>
      <p:sp>
        <p:nvSpPr>
          <p:cNvPr id="219" name="Google Shape;219;p17"/>
          <p:cNvSpPr txBox="1"/>
          <p:nvPr/>
        </p:nvSpPr>
        <p:spPr>
          <a:xfrm>
            <a:off x="7105650" y="3512790"/>
            <a:ext cx="40195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 i="0" u="none" strike="noStrike" cap="none">
                <a:solidFill>
                  <a:srgbClr val="E6000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100%</a:t>
            </a:r>
            <a:endParaRPr/>
          </a:p>
        </p:txBody>
      </p:sp>
      <p:sp>
        <p:nvSpPr>
          <p:cNvPr id="220" name="Google Shape;220;p17"/>
          <p:cNvSpPr txBox="1"/>
          <p:nvPr/>
        </p:nvSpPr>
        <p:spPr>
          <a:xfrm>
            <a:off x="7105650" y="4103340"/>
            <a:ext cx="40195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Scoped Application</a:t>
            </a:r>
            <a:endParaRPr/>
          </a:p>
        </p:txBody>
      </p:sp>
      <p:sp>
        <p:nvSpPr>
          <p:cNvPr id="221" name="Google Shape;221;p17"/>
          <p:cNvSpPr txBox="1"/>
          <p:nvPr/>
        </p:nvSpPr>
        <p:spPr>
          <a:xfrm>
            <a:off x="7143750" y="4603403"/>
            <a:ext cx="4019550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Built inside a private container ensuring zero interference with global platform operations. </a:t>
            </a:r>
            <a:endParaRPr dirty="0"/>
          </a:p>
        </p:txBody>
      </p:sp>
      <p:pic>
        <p:nvPicPr>
          <p:cNvPr id="222" name="Google Shape;222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0125" y="273367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0125" y="383857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0125" y="494347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9662" y="2857500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7"/>
          <p:cNvSpPr txBox="1"/>
          <p:nvPr/>
        </p:nvSpPr>
        <p:spPr>
          <a:xfrm>
            <a:off x="1666875" y="2690812"/>
            <a:ext cx="4780597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PRESENTATION LAYER</a:t>
            </a:r>
            <a:endParaRPr/>
          </a:p>
        </p:txBody>
      </p:sp>
      <p:sp>
        <p:nvSpPr>
          <p:cNvPr id="228" name="Google Shape;228;p17"/>
          <p:cNvSpPr txBox="1"/>
          <p:nvPr/>
        </p:nvSpPr>
        <p:spPr>
          <a:xfrm>
            <a:off x="1666875" y="2881312"/>
            <a:ext cx="45529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Service Portal for customers, interactive reporting Dashboards, and native backend Admin Console workspaces.</a:t>
            </a:r>
            <a:endParaRPr dirty="0"/>
          </a:p>
        </p:txBody>
      </p:sp>
      <p:pic>
        <p:nvPicPr>
          <p:cNvPr id="229" name="Google Shape;229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38237" y="396240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7"/>
          <p:cNvSpPr txBox="1"/>
          <p:nvPr/>
        </p:nvSpPr>
        <p:spPr>
          <a:xfrm>
            <a:off x="1666875" y="3795712"/>
            <a:ext cx="4780597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LOGIC LAYER</a:t>
            </a:r>
            <a:endParaRPr/>
          </a:p>
        </p:txBody>
      </p:sp>
      <p:sp>
        <p:nvSpPr>
          <p:cNvPr id="231" name="Google Shape;231;p17"/>
          <p:cNvSpPr txBox="1"/>
          <p:nvPr/>
        </p:nvSpPr>
        <p:spPr>
          <a:xfrm>
            <a:off x="1666875" y="3986212"/>
            <a:ext cx="4552950" cy="450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Flow Designer processes, Client &amp; Server Business Rules, Scheduled Jobs, and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GlideAjax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Script Includes.</a:t>
            </a:r>
            <a:endParaRPr dirty="0"/>
          </a:p>
        </p:txBody>
      </p:sp>
      <p:pic>
        <p:nvPicPr>
          <p:cNvPr id="232" name="Google Shape;232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138237" y="506730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7"/>
          <p:cNvSpPr txBox="1"/>
          <p:nvPr/>
        </p:nvSpPr>
        <p:spPr>
          <a:xfrm>
            <a:off x="1666875" y="4900612"/>
            <a:ext cx="4780597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DATA LAYER</a:t>
            </a:r>
            <a:endParaRPr/>
          </a:p>
        </p:txBody>
      </p:sp>
      <p:sp>
        <p:nvSpPr>
          <p:cNvPr id="234" name="Google Shape;234;p17"/>
          <p:cNvSpPr txBox="1"/>
          <p:nvPr/>
        </p:nvSpPr>
        <p:spPr>
          <a:xfrm>
            <a:off x="1666875" y="5091112"/>
            <a:ext cx="4552950" cy="450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Custom scoped Medicine Inventory tables, Service Catalog tables (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sc_req_item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/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sc_task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), and native ITSM Incident tables.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6257925"/>
            <a:ext cx="10668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8"/>
          <p:cNvSpPr txBox="1"/>
          <p:nvPr/>
        </p:nvSpPr>
        <p:spPr>
          <a:xfrm>
            <a:off x="762000" y="571500"/>
            <a:ext cx="92011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E60000"/>
                </a:solidFill>
                <a:latin typeface="Poppins"/>
                <a:ea typeface="Poppins"/>
                <a:cs typeface="Poppins"/>
                <a:sym typeface="Poppins"/>
              </a:rPr>
              <a:t>DATA MODEL</a:t>
            </a:r>
            <a:endParaRPr/>
          </a:p>
        </p:txBody>
      </p:sp>
      <p:sp>
        <p:nvSpPr>
          <p:cNvPr id="246" name="Google Shape;246;p18"/>
          <p:cNvSpPr txBox="1"/>
          <p:nvPr/>
        </p:nvSpPr>
        <p:spPr>
          <a:xfrm>
            <a:off x="762000" y="1325909"/>
            <a:ext cx="112014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Table Schema Definitions &amp; Relationships</a:t>
            </a:r>
            <a:endParaRPr dirty="0"/>
          </a:p>
        </p:txBody>
      </p:sp>
      <p:sp>
        <p:nvSpPr>
          <p:cNvPr id="248" name="Google Shape;248;p18"/>
          <p:cNvSpPr txBox="1"/>
          <p:nvPr/>
        </p:nvSpPr>
        <p:spPr>
          <a:xfrm>
            <a:off x="762000" y="6424612"/>
            <a:ext cx="1243012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DATA MODEL SCHEMA</a:t>
            </a:r>
            <a:endParaRPr/>
          </a:p>
        </p:txBody>
      </p:sp>
      <p:sp>
        <p:nvSpPr>
          <p:cNvPr id="249" name="Google Shape;249;p18"/>
          <p:cNvSpPr txBox="1"/>
          <p:nvPr/>
        </p:nvSpPr>
        <p:spPr>
          <a:xfrm>
            <a:off x="11277600" y="6410325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E60000"/>
                </a:solidFill>
                <a:latin typeface="Poppins"/>
                <a:ea typeface="Poppins"/>
                <a:cs typeface="Poppins"/>
                <a:sym typeface="Poppins"/>
              </a:rPr>
              <a:t>06</a:t>
            </a:r>
            <a:endParaRPr/>
          </a:p>
        </p:txBody>
      </p:sp>
      <p:pic>
        <p:nvPicPr>
          <p:cNvPr id="3" name="table">
            <a:extLst>
              <a:ext uri="{FF2B5EF4-FFF2-40B4-BE49-F238E27FC236}">
                <a16:creationId xmlns:a16="http://schemas.microsoft.com/office/drawing/2014/main" id="{7F59347F-C782-DDC1-DD2B-5C2712DA4D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73609"/>
            <a:ext cx="11049000" cy="32098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6257925"/>
            <a:ext cx="106680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200275"/>
            <a:ext cx="3403550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4150" y="2200275"/>
            <a:ext cx="3403550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26300" y="2200275"/>
            <a:ext cx="3403699" cy="307657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9"/>
          <p:cNvSpPr txBox="1"/>
          <p:nvPr/>
        </p:nvSpPr>
        <p:spPr>
          <a:xfrm>
            <a:off x="762000" y="571500"/>
            <a:ext cx="92011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E60000"/>
                </a:solidFill>
                <a:latin typeface="Poppins"/>
                <a:ea typeface="Poppins"/>
                <a:cs typeface="Poppins"/>
                <a:sym typeface="Poppins"/>
              </a:rPr>
              <a:t>ROLES &amp; SECURITY</a:t>
            </a:r>
            <a:endParaRPr/>
          </a:p>
        </p:txBody>
      </p:sp>
      <p:sp>
        <p:nvSpPr>
          <p:cNvPr id="285" name="Google Shape;285;p19"/>
          <p:cNvSpPr txBox="1"/>
          <p:nvPr/>
        </p:nvSpPr>
        <p:spPr>
          <a:xfrm>
            <a:off x="762000" y="1724025"/>
            <a:ext cx="112014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Fine-Grained Access Control Lists (ACLs) Supporting Patient Isolation</a:t>
            </a:r>
            <a:endParaRPr dirty="0"/>
          </a:p>
        </p:txBody>
      </p:sp>
      <p:sp>
        <p:nvSpPr>
          <p:cNvPr id="286" name="Google Shape;286;p19"/>
          <p:cNvSpPr txBox="1"/>
          <p:nvPr/>
        </p:nvSpPr>
        <p:spPr>
          <a:xfrm>
            <a:off x="762000" y="6424612"/>
            <a:ext cx="1385887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ROLES &amp; SECURITY ACLS</a:t>
            </a:r>
            <a:endParaRPr/>
          </a:p>
        </p:txBody>
      </p:sp>
      <p:sp>
        <p:nvSpPr>
          <p:cNvPr id="287" name="Google Shape;287;p19"/>
          <p:cNvSpPr txBox="1"/>
          <p:nvPr/>
        </p:nvSpPr>
        <p:spPr>
          <a:xfrm>
            <a:off x="11277600" y="6410325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E60000"/>
                </a:solidFill>
                <a:latin typeface="Poppins"/>
                <a:ea typeface="Poppins"/>
                <a:cs typeface="Poppins"/>
                <a:sym typeface="Poppins"/>
              </a:rPr>
              <a:t>07</a:t>
            </a:r>
            <a:endParaRPr/>
          </a:p>
        </p:txBody>
      </p:sp>
      <p:pic>
        <p:nvPicPr>
          <p:cNvPr id="292" name="Google Shape;292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57275" y="25241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9"/>
          <p:cNvSpPr txBox="1"/>
          <p:nvPr/>
        </p:nvSpPr>
        <p:spPr>
          <a:xfrm>
            <a:off x="1057275" y="3190875"/>
            <a:ext cx="295365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CUSTOMER</a:t>
            </a:r>
            <a:endParaRPr sz="1600"/>
          </a:p>
        </p:txBody>
      </p:sp>
      <p:sp>
        <p:nvSpPr>
          <p:cNvPr id="294" name="Google Shape;294;p19"/>
          <p:cNvSpPr txBox="1"/>
          <p:nvPr/>
        </p:nvSpPr>
        <p:spPr>
          <a:xfrm>
            <a:off x="1057275" y="4689762"/>
            <a:ext cx="28130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1" i="0" u="none" strike="noStrike" cap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Isolation</a:t>
            </a:r>
            <a:r>
              <a:rPr lang="en-US" b="1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12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Sees only his own</a:t>
            </a:r>
            <a:endParaRPr lang="ar-EG" sz="1200" b="0" i="0" u="none" strike="noStrike" cap="none" dirty="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ar-EG" sz="1200" dirty="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requests and incidents</a:t>
            </a:r>
            <a:endParaRPr lang="en-US" sz="1200" dirty="0"/>
          </a:p>
        </p:txBody>
      </p:sp>
      <p:sp>
        <p:nvSpPr>
          <p:cNvPr id="295" name="Google Shape;295;p19"/>
          <p:cNvSpPr/>
          <p:nvPr/>
        </p:nvSpPr>
        <p:spPr>
          <a:xfrm>
            <a:off x="1057275" y="4533900"/>
            <a:ext cx="28130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6" name="Google Shape;296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89425" y="25241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9"/>
          <p:cNvSpPr txBox="1"/>
          <p:nvPr/>
        </p:nvSpPr>
        <p:spPr>
          <a:xfrm>
            <a:off x="4689425" y="3190875"/>
            <a:ext cx="295365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PHARMACIST</a:t>
            </a:r>
            <a:endParaRPr sz="1600"/>
          </a:p>
        </p:txBody>
      </p:sp>
      <p:sp>
        <p:nvSpPr>
          <p:cNvPr id="299" name="Google Shape;299;p19"/>
          <p:cNvSpPr/>
          <p:nvPr/>
        </p:nvSpPr>
        <p:spPr>
          <a:xfrm>
            <a:off x="4689425" y="4533900"/>
            <a:ext cx="28130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0" name="Google Shape;300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21575" y="25241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9"/>
          <p:cNvSpPr txBox="1"/>
          <p:nvPr/>
        </p:nvSpPr>
        <p:spPr>
          <a:xfrm>
            <a:off x="8321575" y="3190875"/>
            <a:ext cx="295380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ADMINISTRATOR</a:t>
            </a:r>
            <a:endParaRPr sz="1600"/>
          </a:p>
        </p:txBody>
      </p:sp>
      <p:sp>
        <p:nvSpPr>
          <p:cNvPr id="303" name="Google Shape;303;p19"/>
          <p:cNvSpPr/>
          <p:nvPr/>
        </p:nvSpPr>
        <p:spPr>
          <a:xfrm>
            <a:off x="8321575" y="4533900"/>
            <a:ext cx="281314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4" name="Google Shape;304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95387" y="264795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9"/>
          <p:cNvSpPr txBox="1"/>
          <p:nvPr/>
        </p:nvSpPr>
        <p:spPr>
          <a:xfrm>
            <a:off x="1232376" y="3515958"/>
            <a:ext cx="25844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EG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medicine requests via portal</a:t>
            </a:r>
            <a:endParaRPr dirty="0"/>
          </a:p>
        </p:txBody>
      </p:sp>
      <p:sp>
        <p:nvSpPr>
          <p:cNvPr id="306" name="Google Shape;306;p19"/>
          <p:cNvSpPr txBox="1"/>
          <p:nvPr/>
        </p:nvSpPr>
        <p:spPr>
          <a:xfrm>
            <a:off x="1272060" y="3801815"/>
            <a:ext cx="25844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EG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Track request status</a:t>
            </a:r>
            <a:endParaRPr dirty="0"/>
          </a:p>
        </p:txBody>
      </p:sp>
      <p:sp>
        <p:nvSpPr>
          <p:cNvPr id="307" name="Google Shape;307;p19"/>
          <p:cNvSpPr txBox="1"/>
          <p:nvPr/>
        </p:nvSpPr>
        <p:spPr>
          <a:xfrm>
            <a:off x="1285875" y="4115408"/>
            <a:ext cx="25844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EG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Report complaints</a:t>
            </a:r>
            <a:endParaRPr dirty="0"/>
          </a:p>
        </p:txBody>
      </p:sp>
      <p:pic>
        <p:nvPicPr>
          <p:cNvPr id="308" name="Google Shape;308;p1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827537" y="264795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19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416825" y="264795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19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57274" y="3624262"/>
            <a:ext cx="1238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19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57274" y="3929062"/>
            <a:ext cx="1238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19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57274" y="4233862"/>
            <a:ext cx="12382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305;p19">
            <a:extLst>
              <a:ext uri="{FF2B5EF4-FFF2-40B4-BE49-F238E27FC236}">
                <a16:creationId xmlns:a16="http://schemas.microsoft.com/office/drawing/2014/main" id="{4B2B6515-CAA3-0041-6A82-4E1E8C8E8A44}"/>
              </a:ext>
            </a:extLst>
          </p:cNvPr>
          <p:cNvSpPr txBox="1"/>
          <p:nvPr/>
        </p:nvSpPr>
        <p:spPr>
          <a:xfrm>
            <a:off x="4864527" y="3515958"/>
            <a:ext cx="2813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EG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Manage inventory (stock, expiry)</a:t>
            </a:r>
            <a:endParaRPr dirty="0"/>
          </a:p>
        </p:txBody>
      </p:sp>
      <p:sp>
        <p:nvSpPr>
          <p:cNvPr id="30" name="Google Shape;306;p19">
            <a:extLst>
              <a:ext uri="{FF2B5EF4-FFF2-40B4-BE49-F238E27FC236}">
                <a16:creationId xmlns:a16="http://schemas.microsoft.com/office/drawing/2014/main" id="{B240995A-A4FA-E8EB-304E-F811C8425B47}"/>
              </a:ext>
            </a:extLst>
          </p:cNvPr>
          <p:cNvSpPr txBox="1"/>
          <p:nvPr/>
        </p:nvSpPr>
        <p:spPr>
          <a:xfrm>
            <a:off x="4904211" y="3801815"/>
            <a:ext cx="25844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EG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Prepare approved orders</a:t>
            </a:r>
            <a:endParaRPr dirty="0"/>
          </a:p>
        </p:txBody>
      </p:sp>
      <p:sp>
        <p:nvSpPr>
          <p:cNvPr id="31" name="Google Shape;307;p19">
            <a:extLst>
              <a:ext uri="{FF2B5EF4-FFF2-40B4-BE49-F238E27FC236}">
                <a16:creationId xmlns:a16="http://schemas.microsoft.com/office/drawing/2014/main" id="{51E00B37-43E9-0580-8652-4AF25AABD4DA}"/>
              </a:ext>
            </a:extLst>
          </p:cNvPr>
          <p:cNvSpPr txBox="1"/>
          <p:nvPr/>
        </p:nvSpPr>
        <p:spPr>
          <a:xfrm>
            <a:off x="4918026" y="4115408"/>
            <a:ext cx="25844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EG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Complete handover tasks</a:t>
            </a:r>
            <a:endParaRPr dirty="0"/>
          </a:p>
        </p:txBody>
      </p:sp>
      <p:pic>
        <p:nvPicPr>
          <p:cNvPr id="32" name="Google Shape;316;p19" descr="image.png">
            <a:extLst>
              <a:ext uri="{FF2B5EF4-FFF2-40B4-BE49-F238E27FC236}">
                <a16:creationId xmlns:a16="http://schemas.microsoft.com/office/drawing/2014/main" id="{A4DE8530-DFB7-40B5-905C-9FE8D4BC4B0E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689425" y="3624262"/>
            <a:ext cx="1238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17;p19" descr="image.png">
            <a:extLst>
              <a:ext uri="{FF2B5EF4-FFF2-40B4-BE49-F238E27FC236}">
                <a16:creationId xmlns:a16="http://schemas.microsoft.com/office/drawing/2014/main" id="{3A71051F-B745-02A2-2AC4-B41EAEA9EE3F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689425" y="3929062"/>
            <a:ext cx="1238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18;p19" descr="image.png">
            <a:extLst>
              <a:ext uri="{FF2B5EF4-FFF2-40B4-BE49-F238E27FC236}">
                <a16:creationId xmlns:a16="http://schemas.microsoft.com/office/drawing/2014/main" id="{EC8E72B3-9AFA-540F-F5CD-4626352D2F45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689425" y="4233862"/>
            <a:ext cx="12382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294;p19">
            <a:extLst>
              <a:ext uri="{FF2B5EF4-FFF2-40B4-BE49-F238E27FC236}">
                <a16:creationId xmlns:a16="http://schemas.microsoft.com/office/drawing/2014/main" id="{172238B0-E134-375C-CDCC-4C8D0FA81A8F}"/>
              </a:ext>
            </a:extLst>
          </p:cNvPr>
          <p:cNvSpPr txBox="1"/>
          <p:nvPr/>
        </p:nvSpPr>
        <p:spPr>
          <a:xfrm>
            <a:off x="4675611" y="4689762"/>
            <a:ext cx="28130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1" i="0" u="none" strike="noStrike" cap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Access</a:t>
            </a:r>
            <a:r>
              <a:rPr lang="en-US" b="1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2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Full read/write on inventory,</a:t>
            </a:r>
            <a:endParaRPr lang="ar-EG" sz="1200" b="0" i="0" u="none" strike="noStrike" cap="none" dirty="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ar-EG" sz="1200" dirty="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RITMs, and tasks</a:t>
            </a:r>
            <a:endParaRPr lang="en-US" sz="1200" dirty="0"/>
          </a:p>
        </p:txBody>
      </p:sp>
      <p:sp>
        <p:nvSpPr>
          <p:cNvPr id="37" name="Google Shape;295;p19">
            <a:extLst>
              <a:ext uri="{FF2B5EF4-FFF2-40B4-BE49-F238E27FC236}">
                <a16:creationId xmlns:a16="http://schemas.microsoft.com/office/drawing/2014/main" id="{4EF42C0B-57BE-5DC0-89A3-0268B00789D1}"/>
              </a:ext>
            </a:extLst>
          </p:cNvPr>
          <p:cNvSpPr/>
          <p:nvPr/>
        </p:nvSpPr>
        <p:spPr>
          <a:xfrm>
            <a:off x="8321724" y="4533900"/>
            <a:ext cx="28130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05;p19">
            <a:extLst>
              <a:ext uri="{FF2B5EF4-FFF2-40B4-BE49-F238E27FC236}">
                <a16:creationId xmlns:a16="http://schemas.microsoft.com/office/drawing/2014/main" id="{D6245DBA-4DB1-41A0-A182-B39ACC677EFD}"/>
              </a:ext>
            </a:extLst>
          </p:cNvPr>
          <p:cNvSpPr txBox="1"/>
          <p:nvPr/>
        </p:nvSpPr>
        <p:spPr>
          <a:xfrm>
            <a:off x="8496825" y="3515958"/>
            <a:ext cx="25844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EG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Approve/reject requests</a:t>
            </a:r>
            <a:endParaRPr dirty="0"/>
          </a:p>
        </p:txBody>
      </p:sp>
      <p:sp>
        <p:nvSpPr>
          <p:cNvPr id="39" name="Google Shape;306;p19">
            <a:extLst>
              <a:ext uri="{FF2B5EF4-FFF2-40B4-BE49-F238E27FC236}">
                <a16:creationId xmlns:a16="http://schemas.microsoft.com/office/drawing/2014/main" id="{2455EBF0-D765-B603-D9C2-9B6DDA11C938}"/>
              </a:ext>
            </a:extLst>
          </p:cNvPr>
          <p:cNvSpPr txBox="1"/>
          <p:nvPr/>
        </p:nvSpPr>
        <p:spPr>
          <a:xfrm>
            <a:off x="8536509" y="3801815"/>
            <a:ext cx="289349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EG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Receive low-stock &amp; expiry alerts</a:t>
            </a:r>
            <a:endParaRPr dirty="0"/>
          </a:p>
        </p:txBody>
      </p:sp>
      <p:sp>
        <p:nvSpPr>
          <p:cNvPr id="40" name="Google Shape;307;p19">
            <a:extLst>
              <a:ext uri="{FF2B5EF4-FFF2-40B4-BE49-F238E27FC236}">
                <a16:creationId xmlns:a16="http://schemas.microsoft.com/office/drawing/2014/main" id="{F730FC03-4321-8DE7-E874-F72C98D881C8}"/>
              </a:ext>
            </a:extLst>
          </p:cNvPr>
          <p:cNvSpPr txBox="1"/>
          <p:nvPr/>
        </p:nvSpPr>
        <p:spPr>
          <a:xfrm>
            <a:off x="8550324" y="4115408"/>
            <a:ext cx="25844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monitor dashboard</a:t>
            </a:r>
            <a:endParaRPr dirty="0"/>
          </a:p>
        </p:txBody>
      </p:sp>
      <p:pic>
        <p:nvPicPr>
          <p:cNvPr id="41" name="Google Shape;316;p19" descr="image.png">
            <a:extLst>
              <a:ext uri="{FF2B5EF4-FFF2-40B4-BE49-F238E27FC236}">
                <a16:creationId xmlns:a16="http://schemas.microsoft.com/office/drawing/2014/main" id="{67411EB8-1474-37C9-572A-1186DE408F47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321723" y="3624262"/>
            <a:ext cx="1238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317;p19" descr="image.png">
            <a:extLst>
              <a:ext uri="{FF2B5EF4-FFF2-40B4-BE49-F238E27FC236}">
                <a16:creationId xmlns:a16="http://schemas.microsoft.com/office/drawing/2014/main" id="{0B17A327-E5B4-B4C8-C961-C3021C360B3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321723" y="3929062"/>
            <a:ext cx="1238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318;p19" descr="image.png">
            <a:extLst>
              <a:ext uri="{FF2B5EF4-FFF2-40B4-BE49-F238E27FC236}">
                <a16:creationId xmlns:a16="http://schemas.microsoft.com/office/drawing/2014/main" id="{336FE0CA-AA2E-D03A-09E0-3A35EDC0C639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321723" y="4233862"/>
            <a:ext cx="12382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294;p19">
            <a:extLst>
              <a:ext uri="{FF2B5EF4-FFF2-40B4-BE49-F238E27FC236}">
                <a16:creationId xmlns:a16="http://schemas.microsoft.com/office/drawing/2014/main" id="{BBC8C178-0B6F-9644-A100-264CE3937002}"/>
              </a:ext>
            </a:extLst>
          </p:cNvPr>
          <p:cNvSpPr txBox="1"/>
          <p:nvPr/>
        </p:nvSpPr>
        <p:spPr>
          <a:xfrm>
            <a:off x="8321575" y="4709819"/>
            <a:ext cx="28130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1" i="0" u="none" strike="noStrike" cap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Access</a:t>
            </a:r>
            <a:r>
              <a:rPr lang="en-US" b="1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2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Full CRUD across all tables</a:t>
            </a:r>
          </a:p>
          <a:p>
            <a:pPr marL="0" marR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and application configuration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Google Shape;40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6257925"/>
            <a:ext cx="106680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09675" y="320218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28700" y="3849885"/>
            <a:ext cx="7048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095625" y="320218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990850" y="3849885"/>
            <a:ext cx="552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981575" y="320218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667250" y="3849885"/>
            <a:ext cx="9715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2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867525" y="320218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2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634162" y="3849885"/>
            <a:ext cx="80962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23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753475" y="320218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2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520112" y="3849885"/>
            <a:ext cx="80962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3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639425" y="320218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458450" y="3849885"/>
            <a:ext cx="7048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23"/>
          <p:cNvSpPr txBox="1"/>
          <p:nvPr/>
        </p:nvSpPr>
        <p:spPr>
          <a:xfrm>
            <a:off x="762000" y="571500"/>
            <a:ext cx="92011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E60000"/>
                </a:solidFill>
                <a:latin typeface="Poppins"/>
                <a:ea typeface="Poppins"/>
                <a:cs typeface="Poppins"/>
                <a:sym typeface="Poppins"/>
              </a:rPr>
              <a:t>CORE AUTOMATION</a:t>
            </a:r>
            <a:endParaRPr/>
          </a:p>
        </p:txBody>
      </p:sp>
      <p:sp>
        <p:nvSpPr>
          <p:cNvPr id="422" name="Google Shape;422;p23"/>
          <p:cNvSpPr txBox="1"/>
          <p:nvPr/>
        </p:nvSpPr>
        <p:spPr>
          <a:xfrm>
            <a:off x="762000" y="1988790"/>
            <a:ext cx="112014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Low-Code Medicine Request Approval Flow</a:t>
            </a:r>
            <a:endParaRPr sz="1600" dirty="0"/>
          </a:p>
        </p:txBody>
      </p:sp>
      <p:sp>
        <p:nvSpPr>
          <p:cNvPr id="423" name="Google Shape;423;p23"/>
          <p:cNvSpPr txBox="1"/>
          <p:nvPr/>
        </p:nvSpPr>
        <p:spPr>
          <a:xfrm>
            <a:off x="762000" y="2369790"/>
            <a:ext cx="10668000" cy="270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End-to-End automated lifecycle mapping with transactional decision boundaries</a:t>
            </a:r>
            <a:endParaRPr sz="1100" dirty="0"/>
          </a:p>
        </p:txBody>
      </p:sp>
      <p:sp>
        <p:nvSpPr>
          <p:cNvPr id="424" name="Google Shape;424;p23"/>
          <p:cNvSpPr txBox="1"/>
          <p:nvPr/>
        </p:nvSpPr>
        <p:spPr>
          <a:xfrm>
            <a:off x="762000" y="6424612"/>
            <a:ext cx="16954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FLOW DESIGNER AUTOMATION</a:t>
            </a:r>
            <a:endParaRPr/>
          </a:p>
        </p:txBody>
      </p:sp>
      <p:sp>
        <p:nvSpPr>
          <p:cNvPr id="425" name="Google Shape;425;p23"/>
          <p:cNvSpPr txBox="1"/>
          <p:nvPr/>
        </p:nvSpPr>
        <p:spPr>
          <a:xfrm>
            <a:off x="11325225" y="6410325"/>
            <a:ext cx="253750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 dirty="0">
                <a:solidFill>
                  <a:srgbClr val="E60000"/>
                </a:solidFill>
                <a:latin typeface="Poppins"/>
                <a:ea typeface="Poppins"/>
                <a:cs typeface="Poppins"/>
                <a:sym typeface="Poppins"/>
              </a:rPr>
              <a:t>11</a:t>
            </a:r>
            <a:endParaRPr dirty="0"/>
          </a:p>
        </p:txBody>
      </p:sp>
      <p:sp>
        <p:nvSpPr>
          <p:cNvPr id="426" name="Google Shape;426;p23"/>
          <p:cNvSpPr/>
          <p:nvPr/>
        </p:nvSpPr>
        <p:spPr>
          <a:xfrm>
            <a:off x="762000" y="3592710"/>
            <a:ext cx="10668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3"/>
          <p:cNvSpPr/>
          <p:nvPr/>
        </p:nvSpPr>
        <p:spPr>
          <a:xfrm>
            <a:off x="762000" y="4640459"/>
            <a:ext cx="3429000" cy="1214437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3"/>
          <p:cNvSpPr txBox="1"/>
          <p:nvPr/>
        </p:nvSpPr>
        <p:spPr>
          <a:xfrm>
            <a:off x="904875" y="4783335"/>
            <a:ext cx="314325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Branching Condition: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lang="ar-EG" sz="1200" b="0" i="0" u="none" strike="noStrike" cap="none" dirty="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Approved → Prepare tasks + Stock deduction (prevents double selling)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Rejected → Stage = Rejected + refusal email</a:t>
            </a:r>
            <a:endParaRPr lang="ar-EG" sz="1200" b="0" i="0" u="none" strike="noStrike" cap="none" dirty="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9" name="Google Shape;429;p23"/>
          <p:cNvSpPr/>
          <p:nvPr/>
        </p:nvSpPr>
        <p:spPr>
          <a:xfrm>
            <a:off x="762000" y="4640460"/>
            <a:ext cx="45719" cy="1214436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3"/>
          <p:cNvSpPr/>
          <p:nvPr/>
        </p:nvSpPr>
        <p:spPr>
          <a:xfrm>
            <a:off x="4381500" y="4640460"/>
            <a:ext cx="3429000" cy="121443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3"/>
          <p:cNvSpPr txBox="1"/>
          <p:nvPr/>
        </p:nvSpPr>
        <p:spPr>
          <a:xfrm>
            <a:off x="4524375" y="4783335"/>
            <a:ext cx="314325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Fulfiller Tasks: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- 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Two sequential Catalog Tasks for Pharmacist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- 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Timeout: 2 business days → auto-cancel + stock restore</a:t>
            </a:r>
          </a:p>
        </p:txBody>
      </p:sp>
      <p:sp>
        <p:nvSpPr>
          <p:cNvPr id="432" name="Google Shape;432;p23"/>
          <p:cNvSpPr/>
          <p:nvPr/>
        </p:nvSpPr>
        <p:spPr>
          <a:xfrm>
            <a:off x="4381500" y="4640460"/>
            <a:ext cx="45719" cy="1214436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3"/>
          <p:cNvSpPr/>
          <p:nvPr/>
        </p:nvSpPr>
        <p:spPr>
          <a:xfrm>
            <a:off x="8001000" y="4640460"/>
            <a:ext cx="3429000" cy="121443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3"/>
          <p:cNvSpPr txBox="1"/>
          <p:nvPr/>
        </p:nvSpPr>
        <p:spPr>
          <a:xfrm>
            <a:off x="8143875" y="4783335"/>
            <a:ext cx="3143250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Automatic Emails: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 Customer: Request submitted, Ready for     pickup, Rejection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 Pharmacist: Dynamic medicine name &amp; quantity (via Mail Script from RITM)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435" name="Google Shape;435;p23"/>
          <p:cNvSpPr/>
          <p:nvPr/>
        </p:nvSpPr>
        <p:spPr>
          <a:xfrm>
            <a:off x="8001000" y="4640460"/>
            <a:ext cx="45719" cy="1214436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3"/>
          <p:cNvSpPr txBox="1"/>
          <p:nvPr/>
        </p:nvSpPr>
        <p:spPr>
          <a:xfrm>
            <a:off x="1023937" y="3659385"/>
            <a:ext cx="828676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Submission</a:t>
            </a:r>
            <a:endParaRPr sz="1100" dirty="0"/>
          </a:p>
        </p:txBody>
      </p:sp>
      <p:sp>
        <p:nvSpPr>
          <p:cNvPr id="437" name="Google Shape;437;p23"/>
          <p:cNvSpPr txBox="1"/>
          <p:nvPr/>
        </p:nvSpPr>
        <p:spPr>
          <a:xfrm>
            <a:off x="2838450" y="3659385"/>
            <a:ext cx="99060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Under Review</a:t>
            </a:r>
            <a:endParaRPr sz="1100" dirty="0"/>
          </a:p>
        </p:txBody>
      </p:sp>
      <p:sp>
        <p:nvSpPr>
          <p:cNvPr id="438" name="Google Shape;438;p23"/>
          <p:cNvSpPr txBox="1"/>
          <p:nvPr/>
        </p:nvSpPr>
        <p:spPr>
          <a:xfrm>
            <a:off x="4657725" y="3659385"/>
            <a:ext cx="1243012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Admin Approval</a:t>
            </a:r>
            <a:endParaRPr sz="1100" dirty="0"/>
          </a:p>
        </p:txBody>
      </p:sp>
      <p:sp>
        <p:nvSpPr>
          <p:cNvPr id="439" name="Google Shape;439;p23"/>
          <p:cNvSpPr txBox="1"/>
          <p:nvPr/>
        </p:nvSpPr>
        <p:spPr>
          <a:xfrm>
            <a:off x="6515098" y="3659385"/>
            <a:ext cx="1047751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Preparation</a:t>
            </a:r>
            <a:endParaRPr sz="1100" dirty="0"/>
          </a:p>
        </p:txBody>
      </p:sp>
      <p:sp>
        <p:nvSpPr>
          <p:cNvPr id="440" name="Google Shape;440;p23"/>
          <p:cNvSpPr txBox="1"/>
          <p:nvPr/>
        </p:nvSpPr>
        <p:spPr>
          <a:xfrm>
            <a:off x="8467724" y="3659385"/>
            <a:ext cx="1090613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Ready / Pickup</a:t>
            </a:r>
            <a:endParaRPr sz="1100" dirty="0"/>
          </a:p>
        </p:txBody>
      </p:sp>
      <p:sp>
        <p:nvSpPr>
          <p:cNvPr id="441" name="Google Shape;441;p23"/>
          <p:cNvSpPr txBox="1"/>
          <p:nvPr/>
        </p:nvSpPr>
        <p:spPr>
          <a:xfrm>
            <a:off x="10453687" y="3659385"/>
            <a:ext cx="809625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Completion</a:t>
            </a:r>
            <a:endParaRPr sz="1100" dirty="0"/>
          </a:p>
        </p:txBody>
      </p:sp>
      <p:sp>
        <p:nvSpPr>
          <p:cNvPr id="442" name="Google Shape;442;p23"/>
          <p:cNvSpPr/>
          <p:nvPr/>
        </p:nvSpPr>
        <p:spPr>
          <a:xfrm>
            <a:off x="762000" y="3592710"/>
            <a:ext cx="8001000" cy="381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4">
          <a:extLst>
            <a:ext uri="{FF2B5EF4-FFF2-40B4-BE49-F238E27FC236}">
              <a16:creationId xmlns:a16="http://schemas.microsoft.com/office/drawing/2014/main" id="{17018ED1-5689-6EFA-CD0F-43EE1D77E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Google Shape;405;p23" descr="image.png">
            <a:extLst>
              <a:ext uri="{FF2B5EF4-FFF2-40B4-BE49-F238E27FC236}">
                <a16:creationId xmlns:a16="http://schemas.microsoft.com/office/drawing/2014/main" id="{0A067BEA-D7EC-F970-FCA8-087984C162D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4962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3" descr="image.png">
            <a:extLst>
              <a:ext uri="{FF2B5EF4-FFF2-40B4-BE49-F238E27FC236}">
                <a16:creationId xmlns:a16="http://schemas.microsoft.com/office/drawing/2014/main" id="{8960371B-AE25-A0CE-8878-646F51FE417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6257925"/>
            <a:ext cx="10668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23">
            <a:extLst>
              <a:ext uri="{FF2B5EF4-FFF2-40B4-BE49-F238E27FC236}">
                <a16:creationId xmlns:a16="http://schemas.microsoft.com/office/drawing/2014/main" id="{39AEE84B-F3BA-24ED-0667-40A210F9740F}"/>
              </a:ext>
            </a:extLst>
          </p:cNvPr>
          <p:cNvSpPr txBox="1"/>
          <p:nvPr/>
        </p:nvSpPr>
        <p:spPr>
          <a:xfrm>
            <a:off x="762000" y="571500"/>
            <a:ext cx="92011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E60000"/>
                </a:solidFill>
                <a:latin typeface="Poppins"/>
                <a:ea typeface="Poppins"/>
                <a:cs typeface="Poppins"/>
                <a:sym typeface="Poppins"/>
              </a:rPr>
              <a:t>CORE AUTOMATION</a:t>
            </a:r>
            <a:endParaRPr/>
          </a:p>
        </p:txBody>
      </p:sp>
      <p:sp>
        <p:nvSpPr>
          <p:cNvPr id="420" name="Google Shape;420;p23">
            <a:extLst>
              <a:ext uri="{FF2B5EF4-FFF2-40B4-BE49-F238E27FC236}">
                <a16:creationId xmlns:a16="http://schemas.microsoft.com/office/drawing/2014/main" id="{2A266D65-CC1B-5C9D-AB36-CA33D8654D3A}"/>
              </a:ext>
            </a:extLst>
          </p:cNvPr>
          <p:cNvSpPr txBox="1"/>
          <p:nvPr/>
        </p:nvSpPr>
        <p:spPr>
          <a:xfrm>
            <a:off x="9658350" y="414337"/>
            <a:ext cx="14097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60000"/>
                </a:solidFill>
                <a:latin typeface="Poppins"/>
                <a:ea typeface="Poppins"/>
                <a:cs typeface="Poppins"/>
                <a:sym typeface="Poppins"/>
              </a:rPr>
              <a:t>PULSE PHARMACY</a:t>
            </a:r>
            <a:endParaRPr/>
          </a:p>
        </p:txBody>
      </p:sp>
      <p:pic>
        <p:nvPicPr>
          <p:cNvPr id="421" name="Google Shape;421;p23" descr="image.png">
            <a:extLst>
              <a:ext uri="{FF2B5EF4-FFF2-40B4-BE49-F238E27FC236}">
                <a16:creationId xmlns:a16="http://schemas.microsoft.com/office/drawing/2014/main" id="{31CCC25F-DD4A-FCEB-2D2E-092A46088AD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163300" y="38100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23">
            <a:extLst>
              <a:ext uri="{FF2B5EF4-FFF2-40B4-BE49-F238E27FC236}">
                <a16:creationId xmlns:a16="http://schemas.microsoft.com/office/drawing/2014/main" id="{48669D0A-E171-68AF-47E7-F8C938323DF9}"/>
              </a:ext>
            </a:extLst>
          </p:cNvPr>
          <p:cNvSpPr txBox="1"/>
          <p:nvPr/>
        </p:nvSpPr>
        <p:spPr>
          <a:xfrm>
            <a:off x="762000" y="6424612"/>
            <a:ext cx="16954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FLOW DESIGNER AUTOMATION</a:t>
            </a:r>
            <a:endParaRPr/>
          </a:p>
        </p:txBody>
      </p:sp>
      <p:sp>
        <p:nvSpPr>
          <p:cNvPr id="425" name="Google Shape;425;p23">
            <a:extLst>
              <a:ext uri="{FF2B5EF4-FFF2-40B4-BE49-F238E27FC236}">
                <a16:creationId xmlns:a16="http://schemas.microsoft.com/office/drawing/2014/main" id="{F60A54B6-1482-BFA0-DFFB-73D751D6BB43}"/>
              </a:ext>
            </a:extLst>
          </p:cNvPr>
          <p:cNvSpPr txBox="1"/>
          <p:nvPr/>
        </p:nvSpPr>
        <p:spPr>
          <a:xfrm>
            <a:off x="11325225" y="6410325"/>
            <a:ext cx="253750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 dirty="0">
                <a:solidFill>
                  <a:srgbClr val="E60000"/>
                </a:solidFill>
                <a:latin typeface="Poppins"/>
                <a:ea typeface="Poppins"/>
                <a:cs typeface="Poppins"/>
                <a:sym typeface="Poppins"/>
              </a:rPr>
              <a:t>11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DC79B2-FF57-F544-DE61-2EC1E0A5A8B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278476" y="0"/>
            <a:ext cx="3902774" cy="6858000"/>
          </a:xfrm>
          <a:prstGeom prst="rect">
            <a:avLst/>
          </a:prstGeom>
        </p:spPr>
      </p:pic>
      <p:pic>
        <p:nvPicPr>
          <p:cNvPr id="8" name="Google Shape;161;p17" descr="image.png">
            <a:extLst>
              <a:ext uri="{FF2B5EF4-FFF2-40B4-BE49-F238E27FC236}">
                <a16:creationId xmlns:a16="http://schemas.microsoft.com/office/drawing/2014/main" id="{97A074BB-54EF-2F9D-9539-858595BD9309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1695450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62;p17" descr="image.png">
            <a:extLst>
              <a:ext uri="{FF2B5EF4-FFF2-40B4-BE49-F238E27FC236}">
                <a16:creationId xmlns:a16="http://schemas.microsoft.com/office/drawing/2014/main" id="{89D95AC8-34A0-F211-03D9-3551B348EE9E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220027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63;p17" descr="image.png">
            <a:extLst>
              <a:ext uri="{FF2B5EF4-FFF2-40B4-BE49-F238E27FC236}">
                <a16:creationId xmlns:a16="http://schemas.microsoft.com/office/drawing/2014/main" id="{63F25610-F17A-9F97-E946-6AE43F8AB88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2705100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64;p17" descr="image.png">
            <a:extLst>
              <a:ext uri="{FF2B5EF4-FFF2-40B4-BE49-F238E27FC236}">
                <a16:creationId xmlns:a16="http://schemas.microsoft.com/office/drawing/2014/main" id="{B929B8A1-23D7-2F32-4D6A-768FCE3532D5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320992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61;p17" descr="image.png">
            <a:extLst>
              <a:ext uri="{FF2B5EF4-FFF2-40B4-BE49-F238E27FC236}">
                <a16:creationId xmlns:a16="http://schemas.microsoft.com/office/drawing/2014/main" id="{C8B419F6-8B2B-939F-9BC7-404051F51F4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3595687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62;p17" descr="image.png">
            <a:extLst>
              <a:ext uri="{FF2B5EF4-FFF2-40B4-BE49-F238E27FC236}">
                <a16:creationId xmlns:a16="http://schemas.microsoft.com/office/drawing/2014/main" id="{1351BBCF-3187-82E4-79E5-549423ABC850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4100512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63;p17" descr="image.png">
            <a:extLst>
              <a:ext uri="{FF2B5EF4-FFF2-40B4-BE49-F238E27FC236}">
                <a16:creationId xmlns:a16="http://schemas.microsoft.com/office/drawing/2014/main" id="{7A9AE597-CB35-FF72-038A-F41EE88F9F52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4605337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64;p17" descr="image.png">
            <a:extLst>
              <a:ext uri="{FF2B5EF4-FFF2-40B4-BE49-F238E27FC236}">
                <a16:creationId xmlns:a16="http://schemas.microsoft.com/office/drawing/2014/main" id="{F7FB4927-426A-7A25-9653-4C429848C450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5110162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1ABE8A3-CEFA-EBB7-82E2-A184A490C61E}"/>
              </a:ext>
            </a:extLst>
          </p:cNvPr>
          <p:cNvSpPr txBox="1"/>
          <p:nvPr/>
        </p:nvSpPr>
        <p:spPr>
          <a:xfrm>
            <a:off x="4871545" y="3216953"/>
            <a:ext cx="9743088" cy="303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F9FAFB"/>
                </a:solidFill>
                <a:effectLst/>
                <a:latin typeface="Poppins" panose="00000500000000000000" pitchFamily="2" charset="0"/>
              </a:rPr>
              <a:t>Customer logs into portal → submits medicine request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2F7781-9C34-488E-B14B-0DFB4D74D3CF}"/>
              </a:ext>
            </a:extLst>
          </p:cNvPr>
          <p:cNvSpPr txBox="1"/>
          <p:nvPr/>
        </p:nvSpPr>
        <p:spPr>
          <a:xfrm>
            <a:off x="942975" y="1659302"/>
            <a:ext cx="9743088" cy="303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oppins" panose="00000500000000000000" pitchFamily="2" charset="0"/>
              </a:rPr>
              <a:t>Customer logs into portal → submits medicine request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411A403-F388-5751-E150-8D785733243C}"/>
              </a:ext>
            </a:extLst>
          </p:cNvPr>
          <p:cNvSpPr txBox="1"/>
          <p:nvPr/>
        </p:nvSpPr>
        <p:spPr>
          <a:xfrm>
            <a:off x="942975" y="2154413"/>
            <a:ext cx="9743088" cy="303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oppins" panose="00000500000000000000" pitchFamily="2" charset="0"/>
              </a:rPr>
              <a:t>System creates RITM → Stage = Under Review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DBF3E1-83AD-6949-CCEE-94FA7343D286}"/>
              </a:ext>
            </a:extLst>
          </p:cNvPr>
          <p:cNvSpPr txBox="1"/>
          <p:nvPr/>
        </p:nvSpPr>
        <p:spPr>
          <a:xfrm>
            <a:off x="942975" y="2663024"/>
            <a:ext cx="9743088" cy="303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oppins" panose="00000500000000000000" pitchFamily="2" charset="0"/>
              </a:rPr>
              <a:t>Admin receives email → approves request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BA731C8-05BC-A135-3747-93149320AC04}"/>
              </a:ext>
            </a:extLst>
          </p:cNvPr>
          <p:cNvSpPr txBox="1"/>
          <p:nvPr/>
        </p:nvSpPr>
        <p:spPr>
          <a:xfrm>
            <a:off x="942975" y="3158324"/>
            <a:ext cx="9743088" cy="303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oppins" panose="00000500000000000000" pitchFamily="2" charset="0"/>
              </a:rPr>
              <a:t>Stock deducted immediately → Catalog Task created for Pharmacist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FB9FA43-5F1F-3C01-6C72-AAEF966CCA1F}"/>
              </a:ext>
            </a:extLst>
          </p:cNvPr>
          <p:cNvSpPr txBox="1"/>
          <p:nvPr/>
        </p:nvSpPr>
        <p:spPr>
          <a:xfrm>
            <a:off x="942975" y="3554879"/>
            <a:ext cx="9743088" cy="303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oppins" panose="00000500000000000000" pitchFamily="2" charset="0"/>
              </a:rPr>
              <a:t>Pharmacist receives email with medicine details → prepares order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C040873-5593-25CB-D114-FA9242146A23}"/>
              </a:ext>
            </a:extLst>
          </p:cNvPr>
          <p:cNvSpPr txBox="1"/>
          <p:nvPr/>
        </p:nvSpPr>
        <p:spPr>
          <a:xfrm>
            <a:off x="942975" y="4058436"/>
            <a:ext cx="9743088" cy="303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oppins" panose="00000500000000000000" pitchFamily="2" charset="0"/>
              </a:rPr>
              <a:t>Stage = Ready for Pickup → customer gets pickup email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A41910B-48E0-9B75-D68C-DB155C87B81F}"/>
              </a:ext>
            </a:extLst>
          </p:cNvPr>
          <p:cNvSpPr txBox="1"/>
          <p:nvPr/>
        </p:nvSpPr>
        <p:spPr>
          <a:xfrm>
            <a:off x="942975" y="4563261"/>
            <a:ext cx="9743088" cy="303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oppins" panose="00000500000000000000" pitchFamily="2" charset="0"/>
              </a:rPr>
              <a:t>If no </a:t>
            </a:r>
            <a:r>
              <a:rPr lang="en-US" b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oppins" panose="00000500000000000000" pitchFamily="2" charset="0"/>
              </a:rPr>
              <a:t>pickup → 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oppins" panose="00000500000000000000" pitchFamily="2" charset="0"/>
              </a:rPr>
              <a:t>auto-cancel + stock restore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D3EE701-67B9-503B-E114-493B356948E4}"/>
              </a:ext>
            </a:extLst>
          </p:cNvPr>
          <p:cNvSpPr txBox="1"/>
          <p:nvPr/>
        </p:nvSpPr>
        <p:spPr>
          <a:xfrm>
            <a:off x="942975" y="5068086"/>
            <a:ext cx="9743088" cy="303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oppins" panose="00000500000000000000" pitchFamily="2" charset="0"/>
              </a:rPr>
              <a:t>Pharmacist completes handover → Stage = Completed</a:t>
            </a:r>
          </a:p>
        </p:txBody>
      </p:sp>
    </p:spTree>
    <p:extLst>
      <p:ext uri="{BB962C8B-B14F-4D97-AF65-F5344CB8AC3E}">
        <p14:creationId xmlns:p14="http://schemas.microsoft.com/office/powerpoint/2010/main" val="1399313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8BC93-3E19-0307-9F33-C084C6FDAB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pic>
        <p:nvPicPr>
          <p:cNvPr id="3" name="Google Shape;405;p23" descr="image.png">
            <a:extLst>
              <a:ext uri="{FF2B5EF4-FFF2-40B4-BE49-F238E27FC236}">
                <a16:creationId xmlns:a16="http://schemas.microsoft.com/office/drawing/2014/main" id="{EFED777A-F7AA-1163-7A2B-8B82F36EB67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C61A6E-55B8-3E8D-2AF4-7EF56068A6D3}"/>
              </a:ext>
            </a:extLst>
          </p:cNvPr>
          <p:cNvSpPr txBox="1"/>
          <p:nvPr/>
        </p:nvSpPr>
        <p:spPr>
          <a:xfrm>
            <a:off x="5010606" y="2967335"/>
            <a:ext cx="22445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933541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Google Shape;44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6257925"/>
            <a:ext cx="106680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309812"/>
            <a:ext cx="5143500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309812"/>
            <a:ext cx="5143500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24"/>
          <p:cNvSpPr txBox="1"/>
          <p:nvPr/>
        </p:nvSpPr>
        <p:spPr>
          <a:xfrm>
            <a:off x="762000" y="571500"/>
            <a:ext cx="92011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E60000"/>
                </a:solidFill>
                <a:latin typeface="Poppins"/>
                <a:ea typeface="Poppins"/>
                <a:cs typeface="Poppins"/>
                <a:sym typeface="Poppins"/>
              </a:rPr>
              <a:t>SAFETY &amp; MONITORING</a:t>
            </a:r>
            <a:endParaRPr/>
          </a:p>
        </p:txBody>
      </p:sp>
      <p:sp>
        <p:nvSpPr>
          <p:cNvPr id="455" name="Google Shape;455;p24"/>
          <p:cNvSpPr txBox="1"/>
          <p:nvPr/>
        </p:nvSpPr>
        <p:spPr>
          <a:xfrm>
            <a:off x="762000" y="1785937"/>
            <a:ext cx="112014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Proactive Patient Safety Controls - Zero Manual Checking Required</a:t>
            </a:r>
            <a:endParaRPr/>
          </a:p>
        </p:txBody>
      </p:sp>
      <p:sp>
        <p:nvSpPr>
          <p:cNvPr id="456" name="Google Shape;456;p24"/>
          <p:cNvSpPr txBox="1"/>
          <p:nvPr/>
        </p:nvSpPr>
        <p:spPr>
          <a:xfrm>
            <a:off x="762000" y="6424612"/>
            <a:ext cx="1671637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EXPIRY &amp; INVENTORY SAFETY</a:t>
            </a:r>
            <a:endParaRPr/>
          </a:p>
        </p:txBody>
      </p:sp>
      <p:sp>
        <p:nvSpPr>
          <p:cNvPr id="457" name="Google Shape;457;p24"/>
          <p:cNvSpPr txBox="1"/>
          <p:nvPr/>
        </p:nvSpPr>
        <p:spPr>
          <a:xfrm>
            <a:off x="11306175" y="6410325"/>
            <a:ext cx="1238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E60000"/>
                </a:solidFill>
                <a:latin typeface="Poppins"/>
                <a:ea typeface="Poppins"/>
                <a:cs typeface="Poppins"/>
                <a:sym typeface="Poppins"/>
              </a:rPr>
              <a:t>12</a:t>
            </a:r>
            <a:endParaRPr/>
          </a:p>
        </p:txBody>
      </p:sp>
      <p:sp>
        <p:nvSpPr>
          <p:cNvPr id="458" name="Google Shape;458;p24"/>
          <p:cNvSpPr txBox="1"/>
          <p:nvPr/>
        </p:nvSpPr>
        <p:spPr>
          <a:xfrm>
            <a:off x="1581150" y="2724150"/>
            <a:ext cx="262032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EXPIRY MONITORING ENGINE</a:t>
            </a:r>
            <a:endParaRPr/>
          </a:p>
        </p:txBody>
      </p:sp>
      <p:sp>
        <p:nvSpPr>
          <p:cNvPr id="459" name="Google Shape;459;p24"/>
          <p:cNvSpPr txBox="1"/>
          <p:nvPr/>
        </p:nvSpPr>
        <p:spPr>
          <a:xfrm>
            <a:off x="1390650" y="3157537"/>
            <a:ext cx="421957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Scheduled Job Execution:</a:t>
            </a:r>
            <a:r>
              <a:rPr lang="en-US" sz="12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Evaluates database daily at exact 06:00 system hour. Scans active inventory.</a:t>
            </a:r>
            <a:endParaRPr dirty="0"/>
          </a:p>
        </p:txBody>
      </p:sp>
      <p:sp>
        <p:nvSpPr>
          <p:cNvPr id="460" name="Google Shape;460;p24"/>
          <p:cNvSpPr txBox="1"/>
          <p:nvPr/>
        </p:nvSpPr>
        <p:spPr>
          <a:xfrm>
            <a:off x="1390650" y="3805237"/>
            <a:ext cx="42195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State Escalation:</a:t>
            </a:r>
            <a:r>
              <a:rPr lang="en-US" sz="12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Sets medicine status to 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expired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if date passed. Sets status to 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near_expiry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if date occurs within exactly 30 days.</a:t>
            </a:r>
            <a:endParaRPr dirty="0"/>
          </a:p>
        </p:txBody>
      </p:sp>
      <p:sp>
        <p:nvSpPr>
          <p:cNvPr id="461" name="Google Shape;461;p24"/>
          <p:cNvSpPr txBox="1"/>
          <p:nvPr/>
        </p:nvSpPr>
        <p:spPr>
          <a:xfrm>
            <a:off x="1390650" y="4681537"/>
            <a:ext cx="42195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System Restrictions:</a:t>
            </a:r>
            <a:r>
              <a:rPr lang="en-US" sz="12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Expired medicines instantly blocked from catalogs. Form UI policies force expired medication records to read-only views for system safety.</a:t>
            </a:r>
            <a:endParaRPr dirty="0"/>
          </a:p>
        </p:txBody>
      </p:sp>
      <p:sp>
        <p:nvSpPr>
          <p:cNvPr id="462" name="Google Shape;462;p24"/>
          <p:cNvSpPr txBox="1"/>
          <p:nvPr/>
        </p:nvSpPr>
        <p:spPr>
          <a:xfrm>
            <a:off x="7105650" y="2724150"/>
            <a:ext cx="2274656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EXPIRED DISPOSAL FLOW</a:t>
            </a:r>
            <a:endParaRPr dirty="0"/>
          </a:p>
        </p:txBody>
      </p:sp>
      <p:sp>
        <p:nvSpPr>
          <p:cNvPr id="463" name="Google Shape;463;p24"/>
          <p:cNvSpPr txBox="1"/>
          <p:nvPr/>
        </p:nvSpPr>
        <p:spPr>
          <a:xfrm>
            <a:off x="6915150" y="3157537"/>
            <a:ext cx="421957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334155"/>
                </a:solidFill>
                <a:latin typeface="Inter SemiBold" panose="020B0604020202020204" charset="0"/>
                <a:ea typeface="Inter SemiBold" panose="020B0604020202020204" charset="0"/>
                <a:cs typeface="Inter"/>
                <a:sym typeface="Inter"/>
              </a:rPr>
              <a:t>Auto‑Incident: </a:t>
            </a:r>
            <a:r>
              <a:rPr lang="en-US" sz="1200" i="0" u="none" strike="noStrike" cap="none" dirty="0">
                <a:solidFill>
                  <a:srgbClr val="334155"/>
                </a:solidFill>
                <a:latin typeface="Inter SemiBold" panose="020B0604020202020204" charset="0"/>
                <a:ea typeface="Inter SemiBold" panose="020B0604020202020204" charset="0"/>
                <a:cs typeface="Inter"/>
                <a:sym typeface="Inter"/>
              </a:rPr>
              <a:t>When medicine becomes expired → Incident created, assigned to Pharmacist.</a:t>
            </a:r>
            <a:endParaRPr lang="en-US" sz="1200" i="0" u="none" strike="noStrike" cap="none" dirty="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5" name="Google Shape;465;p24"/>
          <p:cNvSpPr txBox="1"/>
          <p:nvPr/>
        </p:nvSpPr>
        <p:spPr>
          <a:xfrm>
            <a:off x="6915150" y="4910137"/>
            <a:ext cx="42195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466" name="Google Shape;466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57300" y="2754490"/>
            <a:ext cx="1333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4650" y="2757487"/>
            <a:ext cx="1905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463;p24">
            <a:extLst>
              <a:ext uri="{FF2B5EF4-FFF2-40B4-BE49-F238E27FC236}">
                <a16:creationId xmlns:a16="http://schemas.microsoft.com/office/drawing/2014/main" id="{5F3D491F-53E7-2B53-308E-F147066BF2A9}"/>
              </a:ext>
            </a:extLst>
          </p:cNvPr>
          <p:cNvSpPr txBox="1"/>
          <p:nvPr/>
        </p:nvSpPr>
        <p:spPr>
          <a:xfrm>
            <a:off x="6902414" y="3801249"/>
            <a:ext cx="421957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334155"/>
                </a:solidFill>
                <a:latin typeface="Inter SemiBold" panose="020B0604020202020204" charset="0"/>
                <a:ea typeface="Inter SemiBold" panose="020B0604020202020204" charset="0"/>
                <a:cs typeface="Inter"/>
                <a:sym typeface="Inter"/>
              </a:rPr>
              <a:t>Pharmacist Email: </a:t>
            </a:r>
            <a:r>
              <a:rPr lang="en-US" sz="1200" i="0" u="none" strike="noStrike" cap="none" dirty="0">
                <a:solidFill>
                  <a:srgbClr val="334155"/>
                </a:solidFill>
                <a:latin typeface="Inter SemiBold" panose="020B0604020202020204" charset="0"/>
                <a:ea typeface="Inter SemiBold" panose="020B0604020202020204" charset="0"/>
                <a:cs typeface="Inter"/>
                <a:sym typeface="Inter"/>
              </a:rPr>
              <a:t>Contains medicine name, batch, quantity, storage location.</a:t>
            </a:r>
            <a:endParaRPr lang="en-US" sz="1200" i="0" u="none" strike="noStrike" cap="none" dirty="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" name="Google Shape;463;p24">
            <a:extLst>
              <a:ext uri="{FF2B5EF4-FFF2-40B4-BE49-F238E27FC236}">
                <a16:creationId xmlns:a16="http://schemas.microsoft.com/office/drawing/2014/main" id="{FA41AF19-C5A2-1875-ADB5-08558ED6566F}"/>
              </a:ext>
            </a:extLst>
          </p:cNvPr>
          <p:cNvSpPr txBox="1"/>
          <p:nvPr/>
        </p:nvSpPr>
        <p:spPr>
          <a:xfrm>
            <a:off x="6902413" y="4444961"/>
            <a:ext cx="42195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334155"/>
                </a:solidFill>
                <a:latin typeface="Inter SemiBold" panose="020B0604020202020204" charset="0"/>
                <a:ea typeface="Inter SemiBold" panose="020B0604020202020204" charset="0"/>
                <a:cs typeface="Inter"/>
                <a:sym typeface="Inter"/>
              </a:rPr>
              <a:t>On Incident Resolve: </a:t>
            </a:r>
            <a:r>
              <a:rPr lang="en-US" sz="1200" i="0" u="none" strike="noStrike" cap="none" dirty="0">
                <a:solidFill>
                  <a:srgbClr val="334155"/>
                </a:solidFill>
                <a:latin typeface="Inter SemiBold" panose="020B0604020202020204" charset="0"/>
                <a:ea typeface="Inter SemiBold" panose="020B0604020202020204" charset="0"/>
                <a:cs typeface="Inter"/>
                <a:sym typeface="Inter"/>
              </a:rPr>
              <a:t>quantity = 0, status = Disposed.</a:t>
            </a:r>
            <a:endParaRPr lang="en-US" sz="1200" i="0" u="none" strike="noStrike" cap="none" dirty="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" name="Google Shape;463;p24">
            <a:extLst>
              <a:ext uri="{FF2B5EF4-FFF2-40B4-BE49-F238E27FC236}">
                <a16:creationId xmlns:a16="http://schemas.microsoft.com/office/drawing/2014/main" id="{5E2B117B-EB1D-2E5A-A590-79A89832BDC1}"/>
              </a:ext>
            </a:extLst>
          </p:cNvPr>
          <p:cNvSpPr txBox="1"/>
          <p:nvPr/>
        </p:nvSpPr>
        <p:spPr>
          <a:xfrm>
            <a:off x="6902412" y="4811674"/>
            <a:ext cx="421957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334155"/>
                </a:solidFill>
                <a:latin typeface="Inter SemiBold" panose="020B0604020202020204" charset="0"/>
                <a:ea typeface="Inter SemiBold" panose="020B0604020202020204" charset="0"/>
                <a:cs typeface="Inter"/>
                <a:sym typeface="Inter"/>
              </a:rPr>
              <a:t>Admin Email: </a:t>
            </a:r>
            <a:r>
              <a:rPr lang="en-US" sz="1200" i="0" u="none" strike="noStrike" cap="none" dirty="0">
                <a:solidFill>
                  <a:srgbClr val="334155"/>
                </a:solidFill>
                <a:latin typeface="Inter SemiBold" panose="020B0604020202020204" charset="0"/>
                <a:ea typeface="Inter SemiBold" panose="020B0604020202020204" charset="0"/>
                <a:cs typeface="Inter"/>
                <a:sym typeface="Inter"/>
              </a:rPr>
              <a:t>Notification that disposal is complete and stock is zero.</a:t>
            </a:r>
            <a:endParaRPr lang="en-US" sz="1200" i="0" u="none" strike="noStrike" cap="none" dirty="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7">
          <a:extLst>
            <a:ext uri="{FF2B5EF4-FFF2-40B4-BE49-F238E27FC236}">
              <a16:creationId xmlns:a16="http://schemas.microsoft.com/office/drawing/2014/main" id="{E3357A4D-BC18-1B3A-078C-667427629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Google Shape;448;p24" descr="image.png">
            <a:extLst>
              <a:ext uri="{FF2B5EF4-FFF2-40B4-BE49-F238E27FC236}">
                <a16:creationId xmlns:a16="http://schemas.microsoft.com/office/drawing/2014/main" id="{223D2AA9-AA2E-6B92-1930-DE2C665ED7F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24" descr="image.png">
            <a:extLst>
              <a:ext uri="{FF2B5EF4-FFF2-40B4-BE49-F238E27FC236}">
                <a16:creationId xmlns:a16="http://schemas.microsoft.com/office/drawing/2014/main" id="{F0BC748B-7071-F6B3-DD12-EB3081540B9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6257925"/>
            <a:ext cx="106680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24" descr="image.png">
            <a:extLst>
              <a:ext uri="{FF2B5EF4-FFF2-40B4-BE49-F238E27FC236}">
                <a16:creationId xmlns:a16="http://schemas.microsoft.com/office/drawing/2014/main" id="{EA446E75-6E69-549D-BC08-424FAFE18B9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309812"/>
            <a:ext cx="5143500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24" descr="image.png">
            <a:extLst>
              <a:ext uri="{FF2B5EF4-FFF2-40B4-BE49-F238E27FC236}">
                <a16:creationId xmlns:a16="http://schemas.microsoft.com/office/drawing/2014/main" id="{72092BD1-5344-FA18-7C0E-369E7CC1CB6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309812"/>
            <a:ext cx="5143500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24">
            <a:extLst>
              <a:ext uri="{FF2B5EF4-FFF2-40B4-BE49-F238E27FC236}">
                <a16:creationId xmlns:a16="http://schemas.microsoft.com/office/drawing/2014/main" id="{15A6DDB4-3493-9369-A855-068CB7875CBA}"/>
              </a:ext>
            </a:extLst>
          </p:cNvPr>
          <p:cNvSpPr txBox="1"/>
          <p:nvPr/>
        </p:nvSpPr>
        <p:spPr>
          <a:xfrm>
            <a:off x="762000" y="571500"/>
            <a:ext cx="92011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E60000"/>
                </a:solidFill>
                <a:latin typeface="Poppins"/>
                <a:ea typeface="Poppins"/>
                <a:cs typeface="Poppins"/>
                <a:sym typeface="Poppins"/>
              </a:rPr>
              <a:t>SAFETY &amp; MONITORING</a:t>
            </a:r>
            <a:endParaRPr/>
          </a:p>
        </p:txBody>
      </p:sp>
      <p:sp>
        <p:nvSpPr>
          <p:cNvPr id="455" name="Google Shape;455;p24">
            <a:extLst>
              <a:ext uri="{FF2B5EF4-FFF2-40B4-BE49-F238E27FC236}">
                <a16:creationId xmlns:a16="http://schemas.microsoft.com/office/drawing/2014/main" id="{F554C16F-D221-D7D5-B239-B62893D8D0CE}"/>
              </a:ext>
            </a:extLst>
          </p:cNvPr>
          <p:cNvSpPr txBox="1"/>
          <p:nvPr/>
        </p:nvSpPr>
        <p:spPr>
          <a:xfrm>
            <a:off x="762000" y="1785937"/>
            <a:ext cx="112014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Proactive Patient Safety Controls - Zero Manual Checking Required</a:t>
            </a:r>
            <a:endParaRPr/>
          </a:p>
        </p:txBody>
      </p:sp>
      <p:sp>
        <p:nvSpPr>
          <p:cNvPr id="456" name="Google Shape;456;p24">
            <a:extLst>
              <a:ext uri="{FF2B5EF4-FFF2-40B4-BE49-F238E27FC236}">
                <a16:creationId xmlns:a16="http://schemas.microsoft.com/office/drawing/2014/main" id="{59745F9C-0DA2-BF0E-F432-45925374A163}"/>
              </a:ext>
            </a:extLst>
          </p:cNvPr>
          <p:cNvSpPr txBox="1"/>
          <p:nvPr/>
        </p:nvSpPr>
        <p:spPr>
          <a:xfrm>
            <a:off x="762000" y="6424612"/>
            <a:ext cx="1671637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EXPIRY &amp; INVENTORY SAFETY</a:t>
            </a:r>
            <a:endParaRPr/>
          </a:p>
        </p:txBody>
      </p:sp>
      <p:sp>
        <p:nvSpPr>
          <p:cNvPr id="457" name="Google Shape;457;p24">
            <a:extLst>
              <a:ext uri="{FF2B5EF4-FFF2-40B4-BE49-F238E27FC236}">
                <a16:creationId xmlns:a16="http://schemas.microsoft.com/office/drawing/2014/main" id="{D0EAB456-138B-D084-ED7A-251D1343AAD3}"/>
              </a:ext>
            </a:extLst>
          </p:cNvPr>
          <p:cNvSpPr txBox="1"/>
          <p:nvPr/>
        </p:nvSpPr>
        <p:spPr>
          <a:xfrm>
            <a:off x="11306175" y="6410325"/>
            <a:ext cx="1238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E60000"/>
                </a:solidFill>
                <a:latin typeface="Poppins"/>
                <a:ea typeface="Poppins"/>
                <a:cs typeface="Poppins"/>
                <a:sym typeface="Poppins"/>
              </a:rPr>
              <a:t>12</a:t>
            </a:r>
            <a:endParaRPr/>
          </a:p>
        </p:txBody>
      </p:sp>
      <p:sp>
        <p:nvSpPr>
          <p:cNvPr id="458" name="Google Shape;458;p24">
            <a:extLst>
              <a:ext uri="{FF2B5EF4-FFF2-40B4-BE49-F238E27FC236}">
                <a16:creationId xmlns:a16="http://schemas.microsoft.com/office/drawing/2014/main" id="{76B1F75C-2B4F-6FE7-F28B-F61383A10DC4}"/>
              </a:ext>
            </a:extLst>
          </p:cNvPr>
          <p:cNvSpPr txBox="1"/>
          <p:nvPr/>
        </p:nvSpPr>
        <p:spPr>
          <a:xfrm>
            <a:off x="1581150" y="2724150"/>
            <a:ext cx="262032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EXPIRY MONITORING ENGINE</a:t>
            </a:r>
            <a:endParaRPr/>
          </a:p>
        </p:txBody>
      </p:sp>
      <p:sp>
        <p:nvSpPr>
          <p:cNvPr id="459" name="Google Shape;459;p24">
            <a:extLst>
              <a:ext uri="{FF2B5EF4-FFF2-40B4-BE49-F238E27FC236}">
                <a16:creationId xmlns:a16="http://schemas.microsoft.com/office/drawing/2014/main" id="{153E03EB-B1BE-5F9D-28B9-1E01194475C6}"/>
              </a:ext>
            </a:extLst>
          </p:cNvPr>
          <p:cNvSpPr txBox="1"/>
          <p:nvPr/>
        </p:nvSpPr>
        <p:spPr>
          <a:xfrm>
            <a:off x="1390650" y="3157537"/>
            <a:ext cx="421957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Scheduled Job Execution:</a:t>
            </a:r>
            <a:r>
              <a:rPr lang="en-US" sz="12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Evaluates database daily at exact 06:00 system hour. Scans active inventory.</a:t>
            </a:r>
            <a:endParaRPr dirty="0"/>
          </a:p>
        </p:txBody>
      </p:sp>
      <p:sp>
        <p:nvSpPr>
          <p:cNvPr id="460" name="Google Shape;460;p24">
            <a:extLst>
              <a:ext uri="{FF2B5EF4-FFF2-40B4-BE49-F238E27FC236}">
                <a16:creationId xmlns:a16="http://schemas.microsoft.com/office/drawing/2014/main" id="{A7F5F0DD-C285-0D26-855B-8E0264C28B54}"/>
              </a:ext>
            </a:extLst>
          </p:cNvPr>
          <p:cNvSpPr txBox="1"/>
          <p:nvPr/>
        </p:nvSpPr>
        <p:spPr>
          <a:xfrm>
            <a:off x="1390650" y="3805237"/>
            <a:ext cx="42195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State Escalation:</a:t>
            </a:r>
            <a:r>
              <a:rPr lang="en-US" sz="12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Sets medicine status to 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expired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if date passed. Sets status to 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near_expiry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if date occurs within exactly 30 days.</a:t>
            </a:r>
            <a:endParaRPr dirty="0"/>
          </a:p>
        </p:txBody>
      </p:sp>
      <p:sp>
        <p:nvSpPr>
          <p:cNvPr id="461" name="Google Shape;461;p24">
            <a:extLst>
              <a:ext uri="{FF2B5EF4-FFF2-40B4-BE49-F238E27FC236}">
                <a16:creationId xmlns:a16="http://schemas.microsoft.com/office/drawing/2014/main" id="{FC866062-D5CF-F2C0-AFE0-C6F1659292B7}"/>
              </a:ext>
            </a:extLst>
          </p:cNvPr>
          <p:cNvSpPr txBox="1"/>
          <p:nvPr/>
        </p:nvSpPr>
        <p:spPr>
          <a:xfrm>
            <a:off x="1390650" y="4681537"/>
            <a:ext cx="42195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System Restrictions:</a:t>
            </a:r>
            <a:r>
              <a:rPr lang="en-US" sz="12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Expired medicines instantly blocked from catalogs. Form UI policies force expired medication records to read-only views for system safety.</a:t>
            </a:r>
            <a:endParaRPr dirty="0"/>
          </a:p>
        </p:txBody>
      </p:sp>
      <p:sp>
        <p:nvSpPr>
          <p:cNvPr id="462" name="Google Shape;462;p24">
            <a:extLst>
              <a:ext uri="{FF2B5EF4-FFF2-40B4-BE49-F238E27FC236}">
                <a16:creationId xmlns:a16="http://schemas.microsoft.com/office/drawing/2014/main" id="{A67A756A-993F-2C92-9AB9-82C4712EA46E}"/>
              </a:ext>
            </a:extLst>
          </p:cNvPr>
          <p:cNvSpPr txBox="1"/>
          <p:nvPr/>
        </p:nvSpPr>
        <p:spPr>
          <a:xfrm>
            <a:off x="7105650" y="2724150"/>
            <a:ext cx="2274656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EXPIRED DISPOSAL FLOW</a:t>
            </a:r>
            <a:endParaRPr dirty="0"/>
          </a:p>
        </p:txBody>
      </p:sp>
      <p:sp>
        <p:nvSpPr>
          <p:cNvPr id="463" name="Google Shape;463;p24">
            <a:extLst>
              <a:ext uri="{FF2B5EF4-FFF2-40B4-BE49-F238E27FC236}">
                <a16:creationId xmlns:a16="http://schemas.microsoft.com/office/drawing/2014/main" id="{E13A43F2-9F90-6389-2E13-834DB31ED2BA}"/>
              </a:ext>
            </a:extLst>
          </p:cNvPr>
          <p:cNvSpPr txBox="1"/>
          <p:nvPr/>
        </p:nvSpPr>
        <p:spPr>
          <a:xfrm>
            <a:off x="6915150" y="3157537"/>
            <a:ext cx="421957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334155"/>
                </a:solidFill>
                <a:latin typeface="Inter SemiBold" panose="020B0604020202020204" charset="0"/>
                <a:ea typeface="Inter SemiBold" panose="020B0604020202020204" charset="0"/>
                <a:cs typeface="Inter"/>
                <a:sym typeface="Inter"/>
              </a:rPr>
              <a:t>Auto‑Incident: </a:t>
            </a:r>
            <a:r>
              <a:rPr lang="en-US" sz="1200" i="0" u="none" strike="noStrike" cap="none" dirty="0">
                <a:solidFill>
                  <a:srgbClr val="334155"/>
                </a:solidFill>
                <a:latin typeface="Inter SemiBold" panose="020B0604020202020204" charset="0"/>
                <a:ea typeface="Inter SemiBold" panose="020B0604020202020204" charset="0"/>
                <a:cs typeface="Inter"/>
                <a:sym typeface="Inter"/>
              </a:rPr>
              <a:t>When medicine becomes expired → Incident created, assigned to Pharmacist.</a:t>
            </a:r>
            <a:endParaRPr lang="en-US" sz="1200" i="0" u="none" strike="noStrike" cap="none" dirty="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5" name="Google Shape;465;p24">
            <a:extLst>
              <a:ext uri="{FF2B5EF4-FFF2-40B4-BE49-F238E27FC236}">
                <a16:creationId xmlns:a16="http://schemas.microsoft.com/office/drawing/2014/main" id="{5B8F07BF-5221-3AE7-8C31-86182E97F5D0}"/>
              </a:ext>
            </a:extLst>
          </p:cNvPr>
          <p:cNvSpPr txBox="1"/>
          <p:nvPr/>
        </p:nvSpPr>
        <p:spPr>
          <a:xfrm>
            <a:off x="6915150" y="4910137"/>
            <a:ext cx="42195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466" name="Google Shape;466;p24" descr="image.png">
            <a:extLst>
              <a:ext uri="{FF2B5EF4-FFF2-40B4-BE49-F238E27FC236}">
                <a16:creationId xmlns:a16="http://schemas.microsoft.com/office/drawing/2014/main" id="{473A8119-A675-EBD0-5E81-C1CB9B83343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57300" y="2754490"/>
            <a:ext cx="1333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24" descr="image.png">
            <a:extLst>
              <a:ext uri="{FF2B5EF4-FFF2-40B4-BE49-F238E27FC236}">
                <a16:creationId xmlns:a16="http://schemas.microsoft.com/office/drawing/2014/main" id="{0A444715-60D6-41F4-DB7B-1509549488CB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4650" y="2757487"/>
            <a:ext cx="1905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463;p24">
            <a:extLst>
              <a:ext uri="{FF2B5EF4-FFF2-40B4-BE49-F238E27FC236}">
                <a16:creationId xmlns:a16="http://schemas.microsoft.com/office/drawing/2014/main" id="{A5716F8A-B591-0AFA-BD1C-16DDA3650C5A}"/>
              </a:ext>
            </a:extLst>
          </p:cNvPr>
          <p:cNvSpPr txBox="1"/>
          <p:nvPr/>
        </p:nvSpPr>
        <p:spPr>
          <a:xfrm>
            <a:off x="6902414" y="3801249"/>
            <a:ext cx="421957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334155"/>
                </a:solidFill>
                <a:latin typeface="Inter SemiBold" panose="020B0604020202020204" charset="0"/>
                <a:ea typeface="Inter SemiBold" panose="020B0604020202020204" charset="0"/>
                <a:cs typeface="Inter"/>
                <a:sym typeface="Inter"/>
              </a:rPr>
              <a:t>Pharmacist Email: </a:t>
            </a:r>
            <a:r>
              <a:rPr lang="en-US" sz="1200" i="0" u="none" strike="noStrike" cap="none" dirty="0">
                <a:solidFill>
                  <a:srgbClr val="334155"/>
                </a:solidFill>
                <a:latin typeface="Inter SemiBold" panose="020B0604020202020204" charset="0"/>
                <a:ea typeface="Inter SemiBold" panose="020B0604020202020204" charset="0"/>
                <a:cs typeface="Inter"/>
                <a:sym typeface="Inter"/>
              </a:rPr>
              <a:t>Contains medicine name, batch, quantity, storage location.</a:t>
            </a:r>
            <a:endParaRPr lang="en-US" sz="1200" i="0" u="none" strike="noStrike" cap="none" dirty="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" name="Google Shape;463;p24">
            <a:extLst>
              <a:ext uri="{FF2B5EF4-FFF2-40B4-BE49-F238E27FC236}">
                <a16:creationId xmlns:a16="http://schemas.microsoft.com/office/drawing/2014/main" id="{1125E553-EC5B-BD6B-849E-7BF45DCC4E74}"/>
              </a:ext>
            </a:extLst>
          </p:cNvPr>
          <p:cNvSpPr txBox="1"/>
          <p:nvPr/>
        </p:nvSpPr>
        <p:spPr>
          <a:xfrm>
            <a:off x="6902413" y="4444961"/>
            <a:ext cx="42195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334155"/>
                </a:solidFill>
                <a:latin typeface="Inter SemiBold" panose="020B0604020202020204" charset="0"/>
                <a:ea typeface="Inter SemiBold" panose="020B0604020202020204" charset="0"/>
                <a:cs typeface="Inter"/>
                <a:sym typeface="Inter"/>
              </a:rPr>
              <a:t>On Incident Resolve: </a:t>
            </a:r>
            <a:r>
              <a:rPr lang="en-US" sz="1200" i="0" u="none" strike="noStrike" cap="none" dirty="0">
                <a:solidFill>
                  <a:srgbClr val="334155"/>
                </a:solidFill>
                <a:latin typeface="Inter SemiBold" panose="020B0604020202020204" charset="0"/>
                <a:ea typeface="Inter SemiBold" panose="020B0604020202020204" charset="0"/>
                <a:cs typeface="Inter"/>
                <a:sym typeface="Inter"/>
              </a:rPr>
              <a:t>quantity = 0, status = Disposed.</a:t>
            </a:r>
            <a:endParaRPr lang="en-US" sz="1200" i="0" u="none" strike="noStrike" cap="none" dirty="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" name="Google Shape;463;p24">
            <a:extLst>
              <a:ext uri="{FF2B5EF4-FFF2-40B4-BE49-F238E27FC236}">
                <a16:creationId xmlns:a16="http://schemas.microsoft.com/office/drawing/2014/main" id="{8E6024EF-7FF3-00C0-BA48-C0E25CC6B555}"/>
              </a:ext>
            </a:extLst>
          </p:cNvPr>
          <p:cNvSpPr txBox="1"/>
          <p:nvPr/>
        </p:nvSpPr>
        <p:spPr>
          <a:xfrm>
            <a:off x="6902412" y="4811674"/>
            <a:ext cx="421957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334155"/>
                </a:solidFill>
                <a:latin typeface="Inter SemiBold" panose="020B0604020202020204" charset="0"/>
                <a:ea typeface="Inter SemiBold" panose="020B0604020202020204" charset="0"/>
                <a:cs typeface="Inter"/>
                <a:sym typeface="Inter"/>
              </a:rPr>
              <a:t>Admin Email: </a:t>
            </a:r>
            <a:r>
              <a:rPr lang="en-US" sz="1200" i="0" u="none" strike="noStrike" cap="none" dirty="0">
                <a:solidFill>
                  <a:srgbClr val="334155"/>
                </a:solidFill>
                <a:latin typeface="Inter SemiBold" panose="020B0604020202020204" charset="0"/>
                <a:ea typeface="Inter SemiBold" panose="020B0604020202020204" charset="0"/>
                <a:cs typeface="Inter"/>
                <a:sym typeface="Inter"/>
              </a:rPr>
              <a:t>Notification that disposal is complete and stock is zero.</a:t>
            </a:r>
            <a:endParaRPr lang="en-US" sz="1200" i="0" u="none" strike="noStrike" cap="none" dirty="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4260235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7">
          <a:extLst>
            <a:ext uri="{FF2B5EF4-FFF2-40B4-BE49-F238E27FC236}">
              <a16:creationId xmlns:a16="http://schemas.microsoft.com/office/drawing/2014/main" id="{25148516-3445-F52F-4097-B7FA66A94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Google Shape;448;p24" descr="image.png">
            <a:extLst>
              <a:ext uri="{FF2B5EF4-FFF2-40B4-BE49-F238E27FC236}">
                <a16:creationId xmlns:a16="http://schemas.microsoft.com/office/drawing/2014/main" id="{3483ADA6-EEDD-0C8A-CFE5-31964D66857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027828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24" descr="image.png">
            <a:extLst>
              <a:ext uri="{FF2B5EF4-FFF2-40B4-BE49-F238E27FC236}">
                <a16:creationId xmlns:a16="http://schemas.microsoft.com/office/drawing/2014/main" id="{16817C64-7D16-BF98-35EE-6F8E550DACE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6257925"/>
            <a:ext cx="106680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24" descr="image.png">
            <a:extLst>
              <a:ext uri="{FF2B5EF4-FFF2-40B4-BE49-F238E27FC236}">
                <a16:creationId xmlns:a16="http://schemas.microsoft.com/office/drawing/2014/main" id="{FDE91BBB-74CE-709E-FD4B-879DD50CA68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309812"/>
            <a:ext cx="5143500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24">
            <a:extLst>
              <a:ext uri="{FF2B5EF4-FFF2-40B4-BE49-F238E27FC236}">
                <a16:creationId xmlns:a16="http://schemas.microsoft.com/office/drawing/2014/main" id="{62D316BC-BA8C-596F-2A45-9239105F558C}"/>
              </a:ext>
            </a:extLst>
          </p:cNvPr>
          <p:cNvSpPr txBox="1"/>
          <p:nvPr/>
        </p:nvSpPr>
        <p:spPr>
          <a:xfrm>
            <a:off x="762000" y="571500"/>
            <a:ext cx="92011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E60000"/>
                </a:solidFill>
                <a:latin typeface="Poppins"/>
                <a:ea typeface="Poppins"/>
                <a:cs typeface="Poppins"/>
                <a:sym typeface="Poppins"/>
              </a:rPr>
              <a:t>SAFETY &amp; MONITORING</a:t>
            </a:r>
            <a:endParaRPr/>
          </a:p>
        </p:txBody>
      </p:sp>
      <p:sp>
        <p:nvSpPr>
          <p:cNvPr id="455" name="Google Shape;455;p24">
            <a:extLst>
              <a:ext uri="{FF2B5EF4-FFF2-40B4-BE49-F238E27FC236}">
                <a16:creationId xmlns:a16="http://schemas.microsoft.com/office/drawing/2014/main" id="{8D80B38A-E1B1-E448-A536-A444346CEF6E}"/>
              </a:ext>
            </a:extLst>
          </p:cNvPr>
          <p:cNvSpPr txBox="1"/>
          <p:nvPr/>
        </p:nvSpPr>
        <p:spPr>
          <a:xfrm>
            <a:off x="762000" y="1785937"/>
            <a:ext cx="112014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Proactive Patient Safety Controls - Zero Manual Checking Required</a:t>
            </a:r>
            <a:endParaRPr/>
          </a:p>
        </p:txBody>
      </p:sp>
      <p:sp>
        <p:nvSpPr>
          <p:cNvPr id="456" name="Google Shape;456;p24">
            <a:extLst>
              <a:ext uri="{FF2B5EF4-FFF2-40B4-BE49-F238E27FC236}">
                <a16:creationId xmlns:a16="http://schemas.microsoft.com/office/drawing/2014/main" id="{A7096220-C834-F179-6CF7-6E789D1E9B49}"/>
              </a:ext>
            </a:extLst>
          </p:cNvPr>
          <p:cNvSpPr txBox="1"/>
          <p:nvPr/>
        </p:nvSpPr>
        <p:spPr>
          <a:xfrm>
            <a:off x="762000" y="6424612"/>
            <a:ext cx="1671637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EXPIRY &amp; INVENTORY SAFETY</a:t>
            </a:r>
            <a:endParaRPr/>
          </a:p>
        </p:txBody>
      </p:sp>
      <p:sp>
        <p:nvSpPr>
          <p:cNvPr id="457" name="Google Shape;457;p24">
            <a:extLst>
              <a:ext uri="{FF2B5EF4-FFF2-40B4-BE49-F238E27FC236}">
                <a16:creationId xmlns:a16="http://schemas.microsoft.com/office/drawing/2014/main" id="{0A00345F-32BA-27B4-A6A8-363BD6086003}"/>
              </a:ext>
            </a:extLst>
          </p:cNvPr>
          <p:cNvSpPr txBox="1"/>
          <p:nvPr/>
        </p:nvSpPr>
        <p:spPr>
          <a:xfrm>
            <a:off x="11306175" y="6410325"/>
            <a:ext cx="1238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E60000"/>
                </a:solidFill>
                <a:latin typeface="Poppins"/>
                <a:ea typeface="Poppins"/>
                <a:cs typeface="Poppins"/>
                <a:sym typeface="Poppins"/>
              </a:rPr>
              <a:t>12</a:t>
            </a:r>
            <a:endParaRPr/>
          </a:p>
        </p:txBody>
      </p:sp>
      <p:sp>
        <p:nvSpPr>
          <p:cNvPr id="462" name="Google Shape;462;p24">
            <a:extLst>
              <a:ext uri="{FF2B5EF4-FFF2-40B4-BE49-F238E27FC236}">
                <a16:creationId xmlns:a16="http://schemas.microsoft.com/office/drawing/2014/main" id="{61C7D962-A48C-DF2F-4F23-1BF72722FA53}"/>
              </a:ext>
            </a:extLst>
          </p:cNvPr>
          <p:cNvSpPr txBox="1"/>
          <p:nvPr/>
        </p:nvSpPr>
        <p:spPr>
          <a:xfrm>
            <a:off x="7105650" y="2724150"/>
            <a:ext cx="2274656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EXPIRED DISPOSAL FLOW</a:t>
            </a:r>
            <a:endParaRPr dirty="0"/>
          </a:p>
        </p:txBody>
      </p:sp>
      <p:sp>
        <p:nvSpPr>
          <p:cNvPr id="463" name="Google Shape;463;p24">
            <a:extLst>
              <a:ext uri="{FF2B5EF4-FFF2-40B4-BE49-F238E27FC236}">
                <a16:creationId xmlns:a16="http://schemas.microsoft.com/office/drawing/2014/main" id="{330E6C87-8D71-3693-79B4-6564F47CE64F}"/>
              </a:ext>
            </a:extLst>
          </p:cNvPr>
          <p:cNvSpPr txBox="1"/>
          <p:nvPr/>
        </p:nvSpPr>
        <p:spPr>
          <a:xfrm>
            <a:off x="6915150" y="3157537"/>
            <a:ext cx="421957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334155"/>
                </a:solidFill>
                <a:latin typeface="Inter SemiBold" panose="020B0604020202020204" charset="0"/>
                <a:ea typeface="Inter SemiBold" panose="020B0604020202020204" charset="0"/>
                <a:cs typeface="Inter"/>
                <a:sym typeface="Inter"/>
              </a:rPr>
              <a:t>Auto‑Incident: </a:t>
            </a:r>
            <a:r>
              <a:rPr lang="en-US" sz="1200" i="0" u="none" strike="noStrike" cap="none" dirty="0">
                <a:solidFill>
                  <a:srgbClr val="334155"/>
                </a:solidFill>
                <a:latin typeface="Inter SemiBold" panose="020B0604020202020204" charset="0"/>
                <a:ea typeface="Inter SemiBold" panose="020B0604020202020204" charset="0"/>
                <a:cs typeface="Inter"/>
                <a:sym typeface="Inter"/>
              </a:rPr>
              <a:t>When medicine becomes expired → Incident created, assigned to Pharmacist.</a:t>
            </a:r>
            <a:endParaRPr lang="en-US" sz="1200" i="0" u="none" strike="noStrike" cap="none" dirty="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5" name="Google Shape;465;p24">
            <a:extLst>
              <a:ext uri="{FF2B5EF4-FFF2-40B4-BE49-F238E27FC236}">
                <a16:creationId xmlns:a16="http://schemas.microsoft.com/office/drawing/2014/main" id="{31D84877-5DC0-78EB-67D4-F8C6F9301E5A}"/>
              </a:ext>
            </a:extLst>
          </p:cNvPr>
          <p:cNvSpPr txBox="1"/>
          <p:nvPr/>
        </p:nvSpPr>
        <p:spPr>
          <a:xfrm>
            <a:off x="6915150" y="4910137"/>
            <a:ext cx="42195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467" name="Google Shape;467;p24" descr="image.png">
            <a:extLst>
              <a:ext uri="{FF2B5EF4-FFF2-40B4-BE49-F238E27FC236}">
                <a16:creationId xmlns:a16="http://schemas.microsoft.com/office/drawing/2014/main" id="{B16CB8E6-CF94-867F-696D-9D4518453F5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24650" y="2757487"/>
            <a:ext cx="1905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463;p24">
            <a:extLst>
              <a:ext uri="{FF2B5EF4-FFF2-40B4-BE49-F238E27FC236}">
                <a16:creationId xmlns:a16="http://schemas.microsoft.com/office/drawing/2014/main" id="{B10BAEAE-C1E5-0EBD-369A-472F12CD71F5}"/>
              </a:ext>
            </a:extLst>
          </p:cNvPr>
          <p:cNvSpPr txBox="1"/>
          <p:nvPr/>
        </p:nvSpPr>
        <p:spPr>
          <a:xfrm>
            <a:off x="6902414" y="3801249"/>
            <a:ext cx="421957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334155"/>
                </a:solidFill>
                <a:latin typeface="Inter SemiBold" panose="020B0604020202020204" charset="0"/>
                <a:ea typeface="Inter SemiBold" panose="020B0604020202020204" charset="0"/>
                <a:cs typeface="Inter"/>
                <a:sym typeface="Inter"/>
              </a:rPr>
              <a:t>Pharmacist Email: </a:t>
            </a:r>
            <a:r>
              <a:rPr lang="en-US" sz="1200" i="0" u="none" strike="noStrike" cap="none" dirty="0">
                <a:solidFill>
                  <a:srgbClr val="334155"/>
                </a:solidFill>
                <a:latin typeface="Inter SemiBold" panose="020B0604020202020204" charset="0"/>
                <a:ea typeface="Inter SemiBold" panose="020B0604020202020204" charset="0"/>
                <a:cs typeface="Inter"/>
                <a:sym typeface="Inter"/>
              </a:rPr>
              <a:t>Contains medicine name, batch, quantity, storage location.</a:t>
            </a:r>
            <a:endParaRPr lang="en-US" sz="1200" i="0" u="none" strike="noStrike" cap="none" dirty="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" name="Google Shape;463;p24">
            <a:extLst>
              <a:ext uri="{FF2B5EF4-FFF2-40B4-BE49-F238E27FC236}">
                <a16:creationId xmlns:a16="http://schemas.microsoft.com/office/drawing/2014/main" id="{B4C9279D-89B1-0D65-F805-8D35DF151ADB}"/>
              </a:ext>
            </a:extLst>
          </p:cNvPr>
          <p:cNvSpPr txBox="1"/>
          <p:nvPr/>
        </p:nvSpPr>
        <p:spPr>
          <a:xfrm>
            <a:off x="6902413" y="4444961"/>
            <a:ext cx="42195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334155"/>
                </a:solidFill>
                <a:latin typeface="Inter SemiBold" panose="020B0604020202020204" charset="0"/>
                <a:ea typeface="Inter SemiBold" panose="020B0604020202020204" charset="0"/>
                <a:cs typeface="Inter"/>
                <a:sym typeface="Inter"/>
              </a:rPr>
              <a:t>On Incident Resolve: </a:t>
            </a:r>
            <a:r>
              <a:rPr lang="en-US" sz="1200" i="0" u="none" strike="noStrike" cap="none" dirty="0">
                <a:solidFill>
                  <a:srgbClr val="334155"/>
                </a:solidFill>
                <a:latin typeface="Inter SemiBold" panose="020B0604020202020204" charset="0"/>
                <a:ea typeface="Inter SemiBold" panose="020B0604020202020204" charset="0"/>
                <a:cs typeface="Inter"/>
                <a:sym typeface="Inter"/>
              </a:rPr>
              <a:t>quantity = 0, status = Disposed.</a:t>
            </a:r>
            <a:endParaRPr lang="en-US" sz="1200" i="0" u="none" strike="noStrike" cap="none" dirty="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" name="Google Shape;463;p24">
            <a:extLst>
              <a:ext uri="{FF2B5EF4-FFF2-40B4-BE49-F238E27FC236}">
                <a16:creationId xmlns:a16="http://schemas.microsoft.com/office/drawing/2014/main" id="{2384BD98-0338-8806-CFE3-F452F6F31A47}"/>
              </a:ext>
            </a:extLst>
          </p:cNvPr>
          <p:cNvSpPr txBox="1"/>
          <p:nvPr/>
        </p:nvSpPr>
        <p:spPr>
          <a:xfrm>
            <a:off x="6902412" y="4811674"/>
            <a:ext cx="421957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334155"/>
                </a:solidFill>
                <a:latin typeface="Inter SemiBold" panose="020B0604020202020204" charset="0"/>
                <a:ea typeface="Inter SemiBold" panose="020B0604020202020204" charset="0"/>
                <a:cs typeface="Inter"/>
                <a:sym typeface="Inter"/>
              </a:rPr>
              <a:t>Admin Email: </a:t>
            </a:r>
            <a:r>
              <a:rPr lang="en-US" sz="1200" i="0" u="none" strike="noStrike" cap="none" dirty="0">
                <a:solidFill>
                  <a:srgbClr val="334155"/>
                </a:solidFill>
                <a:latin typeface="Inter SemiBold" panose="020B0604020202020204" charset="0"/>
                <a:ea typeface="Inter SemiBold" panose="020B0604020202020204" charset="0"/>
                <a:cs typeface="Inter"/>
                <a:sym typeface="Inter"/>
              </a:rPr>
              <a:t>Notification that disposal is complete and stock is zero.</a:t>
            </a:r>
            <a:endParaRPr lang="en-US" sz="1200" i="0" u="none" strike="noStrike" cap="none" dirty="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" name="Google Shape;451;p24">
            <a:extLst>
              <a:ext uri="{FF2B5EF4-FFF2-40B4-BE49-F238E27FC236}">
                <a16:creationId xmlns:a16="http://schemas.microsoft.com/office/drawing/2014/main" id="{B1CAB78C-9FCC-B92E-C9F4-34160604C87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1" y="2374106"/>
            <a:ext cx="5143500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462;p24">
            <a:extLst>
              <a:ext uri="{FF2B5EF4-FFF2-40B4-BE49-F238E27FC236}">
                <a16:creationId xmlns:a16="http://schemas.microsoft.com/office/drawing/2014/main" id="{FC21E270-54DF-E4FC-4724-AA8430828F30}"/>
              </a:ext>
            </a:extLst>
          </p:cNvPr>
          <p:cNvSpPr txBox="1"/>
          <p:nvPr/>
        </p:nvSpPr>
        <p:spPr>
          <a:xfrm>
            <a:off x="1581151" y="2788444"/>
            <a:ext cx="1830228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LOW STOCK ALERTS</a:t>
            </a:r>
            <a:endParaRPr/>
          </a:p>
        </p:txBody>
      </p:sp>
      <p:sp>
        <p:nvSpPr>
          <p:cNvPr id="7" name="Google Shape;463;p24">
            <a:extLst>
              <a:ext uri="{FF2B5EF4-FFF2-40B4-BE49-F238E27FC236}">
                <a16:creationId xmlns:a16="http://schemas.microsoft.com/office/drawing/2014/main" id="{4A17B7E7-636B-6B10-41CD-F2FAF1BD358C}"/>
              </a:ext>
            </a:extLst>
          </p:cNvPr>
          <p:cNvSpPr txBox="1"/>
          <p:nvPr/>
        </p:nvSpPr>
        <p:spPr>
          <a:xfrm>
            <a:off x="1390651" y="3221831"/>
            <a:ext cx="42195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Trigger Event:</a:t>
            </a:r>
            <a:r>
              <a:rPr lang="en-US" sz="12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Executed immediately upon transaction modifications on quantities if value matches threshold conditions: qty ≤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reorder_level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8" name="Google Shape;464;p24">
            <a:extLst>
              <a:ext uri="{FF2B5EF4-FFF2-40B4-BE49-F238E27FC236}">
                <a16:creationId xmlns:a16="http://schemas.microsoft.com/office/drawing/2014/main" id="{1EECCB13-CFC4-BC6B-FA56-21B21F62CC1F}"/>
              </a:ext>
            </a:extLst>
          </p:cNvPr>
          <p:cNvSpPr txBox="1"/>
          <p:nvPr/>
        </p:nvSpPr>
        <p:spPr>
          <a:xfrm>
            <a:off x="1390651" y="4098131"/>
            <a:ext cx="42195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Admin Dispatches:</a:t>
            </a:r>
            <a:r>
              <a:rPr lang="en-US" sz="12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Fires a system notification containing detail arrays: drug name, current count, and predetermined restock margins.</a:t>
            </a:r>
            <a:endParaRPr dirty="0"/>
          </a:p>
        </p:txBody>
      </p:sp>
      <p:sp>
        <p:nvSpPr>
          <p:cNvPr id="9" name="Google Shape;465;p24">
            <a:extLst>
              <a:ext uri="{FF2B5EF4-FFF2-40B4-BE49-F238E27FC236}">
                <a16:creationId xmlns:a16="http://schemas.microsoft.com/office/drawing/2014/main" id="{761B6508-7F7F-331A-FEB5-D5506EF80E98}"/>
              </a:ext>
            </a:extLst>
          </p:cNvPr>
          <p:cNvSpPr txBox="1"/>
          <p:nvPr/>
        </p:nvSpPr>
        <p:spPr>
          <a:xfrm>
            <a:off x="1390651" y="4974431"/>
            <a:ext cx="42195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Dashboard Score Integration:</a:t>
            </a:r>
            <a:r>
              <a:rPr lang="en-US" sz="12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Renders visual critical alert indicator tiles in admin workspaces for high-level awareness.</a:t>
            </a:r>
            <a:endParaRPr dirty="0"/>
          </a:p>
        </p:txBody>
      </p:sp>
      <p:pic>
        <p:nvPicPr>
          <p:cNvPr id="10" name="Google Shape;467;p24">
            <a:extLst>
              <a:ext uri="{FF2B5EF4-FFF2-40B4-BE49-F238E27FC236}">
                <a16:creationId xmlns:a16="http://schemas.microsoft.com/office/drawing/2014/main" id="{3CBAD9E5-3AAC-DEF2-348C-359F67457AB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7276" y="2717006"/>
            <a:ext cx="190500" cy="1714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087618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7">
          <a:extLst>
            <a:ext uri="{FF2B5EF4-FFF2-40B4-BE49-F238E27FC236}">
              <a16:creationId xmlns:a16="http://schemas.microsoft.com/office/drawing/2014/main" id="{3BFD5D64-9312-F599-094E-9B7569A50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Google Shape;448;p24" descr="image.png">
            <a:extLst>
              <a:ext uri="{FF2B5EF4-FFF2-40B4-BE49-F238E27FC236}">
                <a16:creationId xmlns:a16="http://schemas.microsoft.com/office/drawing/2014/main" id="{3E3BF91A-0789-8ED6-2324-6BE6F9BB8E7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24" descr="image.png">
            <a:extLst>
              <a:ext uri="{FF2B5EF4-FFF2-40B4-BE49-F238E27FC236}">
                <a16:creationId xmlns:a16="http://schemas.microsoft.com/office/drawing/2014/main" id="{097A2ADC-E3AD-9011-1CF4-A7499C0FC1C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6257925"/>
            <a:ext cx="10668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24">
            <a:extLst>
              <a:ext uri="{FF2B5EF4-FFF2-40B4-BE49-F238E27FC236}">
                <a16:creationId xmlns:a16="http://schemas.microsoft.com/office/drawing/2014/main" id="{0D210E78-8946-A22C-0E92-777FDE32DC57}"/>
              </a:ext>
            </a:extLst>
          </p:cNvPr>
          <p:cNvSpPr txBox="1"/>
          <p:nvPr/>
        </p:nvSpPr>
        <p:spPr>
          <a:xfrm>
            <a:off x="762000" y="571500"/>
            <a:ext cx="92011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E60000"/>
                </a:solidFill>
                <a:latin typeface="Poppins"/>
                <a:ea typeface="Poppins"/>
                <a:cs typeface="Poppins"/>
                <a:sym typeface="Poppins"/>
              </a:rPr>
              <a:t>SAFETY &amp; MONITORING</a:t>
            </a:r>
            <a:endParaRPr/>
          </a:p>
        </p:txBody>
      </p:sp>
      <p:sp>
        <p:nvSpPr>
          <p:cNvPr id="455" name="Google Shape;455;p24">
            <a:extLst>
              <a:ext uri="{FF2B5EF4-FFF2-40B4-BE49-F238E27FC236}">
                <a16:creationId xmlns:a16="http://schemas.microsoft.com/office/drawing/2014/main" id="{EF0174E8-5BD7-E5E6-E497-E48C3DD2F975}"/>
              </a:ext>
            </a:extLst>
          </p:cNvPr>
          <p:cNvSpPr txBox="1"/>
          <p:nvPr/>
        </p:nvSpPr>
        <p:spPr>
          <a:xfrm>
            <a:off x="762000" y="1785937"/>
            <a:ext cx="112014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Proactive Patient Safety Controls - Zero Manual Checking Required</a:t>
            </a:r>
            <a:endParaRPr/>
          </a:p>
        </p:txBody>
      </p:sp>
      <p:sp>
        <p:nvSpPr>
          <p:cNvPr id="456" name="Google Shape;456;p24">
            <a:extLst>
              <a:ext uri="{FF2B5EF4-FFF2-40B4-BE49-F238E27FC236}">
                <a16:creationId xmlns:a16="http://schemas.microsoft.com/office/drawing/2014/main" id="{717CFA55-EA49-E3BF-1C95-EE8A0A464906}"/>
              </a:ext>
            </a:extLst>
          </p:cNvPr>
          <p:cNvSpPr txBox="1"/>
          <p:nvPr/>
        </p:nvSpPr>
        <p:spPr>
          <a:xfrm>
            <a:off x="762000" y="6424612"/>
            <a:ext cx="1671637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EXPIRY &amp; INVENTORY SAFETY</a:t>
            </a:r>
            <a:endParaRPr/>
          </a:p>
        </p:txBody>
      </p:sp>
      <p:sp>
        <p:nvSpPr>
          <p:cNvPr id="457" name="Google Shape;457;p24">
            <a:extLst>
              <a:ext uri="{FF2B5EF4-FFF2-40B4-BE49-F238E27FC236}">
                <a16:creationId xmlns:a16="http://schemas.microsoft.com/office/drawing/2014/main" id="{6233D20C-587D-5AD4-99F7-20E1BE1EBF7F}"/>
              </a:ext>
            </a:extLst>
          </p:cNvPr>
          <p:cNvSpPr txBox="1"/>
          <p:nvPr/>
        </p:nvSpPr>
        <p:spPr>
          <a:xfrm>
            <a:off x="11306175" y="6410325"/>
            <a:ext cx="1238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E60000"/>
                </a:solidFill>
                <a:latin typeface="Poppins"/>
                <a:ea typeface="Poppins"/>
                <a:cs typeface="Poppins"/>
                <a:sym typeface="Poppins"/>
              </a:rPr>
              <a:t>12</a:t>
            </a:r>
            <a:endParaRPr/>
          </a:p>
        </p:txBody>
      </p:sp>
      <p:pic>
        <p:nvPicPr>
          <p:cNvPr id="7" name="Google Shape;451;p24">
            <a:extLst>
              <a:ext uri="{FF2B5EF4-FFF2-40B4-BE49-F238E27FC236}">
                <a16:creationId xmlns:a16="http://schemas.microsoft.com/office/drawing/2014/main" id="{32836257-51BE-BF20-A435-D48E3E978A8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95756" y="2374106"/>
            <a:ext cx="5143500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462;p24">
            <a:extLst>
              <a:ext uri="{FF2B5EF4-FFF2-40B4-BE49-F238E27FC236}">
                <a16:creationId xmlns:a16="http://schemas.microsoft.com/office/drawing/2014/main" id="{42D79586-0BC0-5DAB-4902-3C0667D5C63C}"/>
              </a:ext>
            </a:extLst>
          </p:cNvPr>
          <p:cNvSpPr txBox="1"/>
          <p:nvPr/>
        </p:nvSpPr>
        <p:spPr>
          <a:xfrm>
            <a:off x="4114905" y="2788444"/>
            <a:ext cx="3591031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LOW </a:t>
            </a:r>
            <a:r>
              <a:rPr lang="en-US" sz="135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STOCK INCIDENT AUTOMATION</a:t>
            </a:r>
            <a:endParaRPr dirty="0"/>
          </a:p>
        </p:txBody>
      </p:sp>
      <p:sp>
        <p:nvSpPr>
          <p:cNvPr id="9" name="Google Shape;463;p24">
            <a:extLst>
              <a:ext uri="{FF2B5EF4-FFF2-40B4-BE49-F238E27FC236}">
                <a16:creationId xmlns:a16="http://schemas.microsoft.com/office/drawing/2014/main" id="{D6839201-4801-0565-C296-7DB383CA9779}"/>
              </a:ext>
            </a:extLst>
          </p:cNvPr>
          <p:cNvSpPr txBox="1"/>
          <p:nvPr/>
        </p:nvSpPr>
        <p:spPr>
          <a:xfrm>
            <a:off x="4114905" y="3153973"/>
            <a:ext cx="4219575" cy="249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-US" sz="12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Trigger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 quantity ≤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reorder_level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lang="ar-EG" sz="1200" b="0" i="0" u="none" strike="noStrike" cap="none" dirty="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-US" sz="12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Auto‑check: 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If an open incident already exists for the same medicine → skip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-US" sz="12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Create Incident 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with:</a:t>
            </a:r>
            <a:r>
              <a:rPr lang="ar-EG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Category: Low Stock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- Reference field: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u_medicine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(links to medicine record)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Email notification 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sent to Admin (medicine name, current qty, suggested reorder)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Dashboard: 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Low Stock Count widget (Single Score) updates in real time.</a:t>
            </a:r>
            <a:endParaRPr lang="en-US" dirty="0"/>
          </a:p>
        </p:txBody>
      </p:sp>
      <p:pic>
        <p:nvPicPr>
          <p:cNvPr id="12" name="Google Shape;467;p24">
            <a:extLst>
              <a:ext uri="{FF2B5EF4-FFF2-40B4-BE49-F238E27FC236}">
                <a16:creationId xmlns:a16="http://schemas.microsoft.com/office/drawing/2014/main" id="{AD57D01C-64D1-9138-F7E2-80CF63974B5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10081" y="2843212"/>
            <a:ext cx="190500" cy="1714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0210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6F15F-E6B6-F37B-B338-6E413A304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ED8D7-7094-4003-F86C-AF3C3098AE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pic>
        <p:nvPicPr>
          <p:cNvPr id="3" name="Google Shape;405;p23" descr="image.png">
            <a:extLst>
              <a:ext uri="{FF2B5EF4-FFF2-40B4-BE49-F238E27FC236}">
                <a16:creationId xmlns:a16="http://schemas.microsoft.com/office/drawing/2014/main" id="{64983E05-2BEA-B281-CCEE-0D595787DC8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48B7E8-0E27-6749-0B40-4DC86CC4BF25}"/>
              </a:ext>
            </a:extLst>
          </p:cNvPr>
          <p:cNvSpPr txBox="1"/>
          <p:nvPr/>
        </p:nvSpPr>
        <p:spPr>
          <a:xfrm>
            <a:off x="5010606" y="2967335"/>
            <a:ext cx="22445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2144676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8" name="Google Shape;588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6257925"/>
            <a:ext cx="106680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5200" y="2871787"/>
            <a:ext cx="4114800" cy="2813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2871787"/>
            <a:ext cx="1457325" cy="1148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2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333625" y="2871787"/>
            <a:ext cx="1457325" cy="1148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2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905250" y="2871787"/>
            <a:ext cx="1457325" cy="1148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76875" y="2871787"/>
            <a:ext cx="1457325" cy="1148357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28"/>
          <p:cNvSpPr txBox="1"/>
          <p:nvPr/>
        </p:nvSpPr>
        <p:spPr>
          <a:xfrm>
            <a:off x="762000" y="571500"/>
            <a:ext cx="92011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E60000"/>
                </a:solidFill>
                <a:latin typeface="Poppins"/>
                <a:ea typeface="Poppins"/>
                <a:cs typeface="Poppins"/>
                <a:sym typeface="Poppins"/>
              </a:rPr>
              <a:t>ITSM COMPLAINTS</a:t>
            </a:r>
            <a:endParaRPr/>
          </a:p>
        </p:txBody>
      </p:sp>
      <p:sp>
        <p:nvSpPr>
          <p:cNvPr id="598" name="Google Shape;598;p28"/>
          <p:cNvSpPr txBox="1"/>
          <p:nvPr/>
        </p:nvSpPr>
        <p:spPr>
          <a:xfrm>
            <a:off x="762000" y="1991766"/>
            <a:ext cx="112014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ITSM Incident &amp; Complaint Management Integration</a:t>
            </a:r>
            <a:endParaRPr/>
          </a:p>
        </p:txBody>
      </p:sp>
      <p:sp>
        <p:nvSpPr>
          <p:cNvPr id="599" name="Google Shape;599;p28"/>
          <p:cNvSpPr txBox="1"/>
          <p:nvPr/>
        </p:nvSpPr>
        <p:spPr>
          <a:xfrm>
            <a:off x="762000" y="2420391"/>
            <a:ext cx="106680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Providing a standardized platform roadmap for patient issues, escalations, and tracking</a:t>
            </a:r>
            <a:endParaRPr/>
          </a:p>
        </p:txBody>
      </p:sp>
      <p:sp>
        <p:nvSpPr>
          <p:cNvPr id="600" name="Google Shape;600;p28"/>
          <p:cNvSpPr txBox="1"/>
          <p:nvPr/>
        </p:nvSpPr>
        <p:spPr>
          <a:xfrm>
            <a:off x="762000" y="6424612"/>
            <a:ext cx="18669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COMPLAINT INCIDENT LIFECYCLE</a:t>
            </a:r>
            <a:endParaRPr/>
          </a:p>
        </p:txBody>
      </p:sp>
      <p:sp>
        <p:nvSpPr>
          <p:cNvPr id="601" name="Google Shape;601;p28"/>
          <p:cNvSpPr txBox="1"/>
          <p:nvPr/>
        </p:nvSpPr>
        <p:spPr>
          <a:xfrm>
            <a:off x="11306175" y="6410325"/>
            <a:ext cx="1238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E60000"/>
                </a:solidFill>
                <a:latin typeface="Poppins"/>
                <a:ea typeface="Poppins"/>
                <a:cs typeface="Poppins"/>
                <a:sym typeface="Poppins"/>
              </a:rPr>
              <a:t>16</a:t>
            </a:r>
            <a:endParaRPr/>
          </a:p>
        </p:txBody>
      </p:sp>
      <p:sp>
        <p:nvSpPr>
          <p:cNvPr id="602" name="Google Shape;602;p28"/>
          <p:cNvSpPr txBox="1"/>
          <p:nvPr/>
        </p:nvSpPr>
        <p:spPr>
          <a:xfrm>
            <a:off x="7553325" y="3138487"/>
            <a:ext cx="3820477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Complaint Classifications</a:t>
            </a:r>
            <a:endParaRPr/>
          </a:p>
        </p:txBody>
      </p:sp>
      <p:pic>
        <p:nvPicPr>
          <p:cNvPr id="603" name="Google Shape;603;p2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14400" y="5275659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28"/>
          <p:cNvSpPr txBox="1"/>
          <p:nvPr/>
        </p:nvSpPr>
        <p:spPr>
          <a:xfrm>
            <a:off x="1295400" y="5247084"/>
            <a:ext cx="54864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E60000"/>
                </a:solidFill>
                <a:latin typeface="Inter"/>
                <a:ea typeface="Inter"/>
                <a:cs typeface="Inter"/>
                <a:sym typeface="Inter"/>
              </a:rPr>
              <a:t>Complaint Resolution Target:</a:t>
            </a:r>
            <a:r>
              <a:rPr lang="en-US" sz="900" b="0" i="0" u="none" strike="noStrike" cap="none">
                <a:solidFill>
                  <a:srgbClr val="E60000"/>
                </a:solidFill>
                <a:latin typeface="Inter"/>
                <a:ea typeface="Inter"/>
                <a:cs typeface="Inter"/>
                <a:sym typeface="Inter"/>
              </a:rPr>
              <a:t> Exactly 2 Hours SLA limit. Alarms alert administrators immediately at 75% threshold and when 100% boundary breach events occur.</a:t>
            </a:r>
            <a:endParaRPr/>
          </a:p>
        </p:txBody>
      </p:sp>
      <p:sp>
        <p:nvSpPr>
          <p:cNvPr id="605" name="Google Shape;605;p28"/>
          <p:cNvSpPr txBox="1"/>
          <p:nvPr/>
        </p:nvSpPr>
        <p:spPr>
          <a:xfrm>
            <a:off x="914400" y="3052762"/>
            <a:ext cx="1210151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E60000"/>
                </a:solidFill>
                <a:latin typeface="Inter"/>
                <a:ea typeface="Inter"/>
                <a:cs typeface="Inter"/>
                <a:sym typeface="Inter"/>
              </a:rPr>
              <a:t>1. NEW</a:t>
            </a:r>
            <a:endParaRPr/>
          </a:p>
        </p:txBody>
      </p:sp>
      <p:sp>
        <p:nvSpPr>
          <p:cNvPr id="606" name="Google Shape;606;p28"/>
          <p:cNvSpPr txBox="1"/>
          <p:nvPr/>
        </p:nvSpPr>
        <p:spPr>
          <a:xfrm>
            <a:off x="914400" y="3281362"/>
            <a:ext cx="1152525" cy="586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Auto-assigned directly to Admin fulfiller group on record insert transaction.</a:t>
            </a:r>
            <a:endParaRPr/>
          </a:p>
        </p:txBody>
      </p:sp>
      <p:sp>
        <p:nvSpPr>
          <p:cNvPr id="607" name="Google Shape;607;p28"/>
          <p:cNvSpPr txBox="1"/>
          <p:nvPr/>
        </p:nvSpPr>
        <p:spPr>
          <a:xfrm>
            <a:off x="2486025" y="3052762"/>
            <a:ext cx="1210151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E60000"/>
                </a:solidFill>
                <a:latin typeface="Inter"/>
                <a:ea typeface="Inter"/>
                <a:cs typeface="Inter"/>
                <a:sym typeface="Inter"/>
              </a:rPr>
              <a:t>2. IN WORK</a:t>
            </a:r>
            <a:endParaRPr/>
          </a:p>
        </p:txBody>
      </p:sp>
      <p:sp>
        <p:nvSpPr>
          <p:cNvPr id="608" name="Google Shape;608;p28"/>
          <p:cNvSpPr txBox="1"/>
          <p:nvPr/>
        </p:nvSpPr>
        <p:spPr>
          <a:xfrm>
            <a:off x="2486025" y="3281362"/>
            <a:ext cx="1152525" cy="586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Admin initiates root investigation, updating journal activity logs.</a:t>
            </a:r>
            <a:endParaRPr dirty="0"/>
          </a:p>
        </p:txBody>
      </p:sp>
      <p:sp>
        <p:nvSpPr>
          <p:cNvPr id="609" name="Google Shape;609;p28"/>
          <p:cNvSpPr txBox="1"/>
          <p:nvPr/>
        </p:nvSpPr>
        <p:spPr>
          <a:xfrm>
            <a:off x="4057650" y="3052762"/>
            <a:ext cx="1210151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E60000"/>
                </a:solidFill>
                <a:latin typeface="Inter"/>
                <a:ea typeface="Inter"/>
                <a:cs typeface="Inter"/>
                <a:sym typeface="Inter"/>
              </a:rPr>
              <a:t>3. RESOLVED</a:t>
            </a:r>
            <a:endParaRPr/>
          </a:p>
        </p:txBody>
      </p:sp>
      <p:sp>
        <p:nvSpPr>
          <p:cNvPr id="610" name="Google Shape;610;p28"/>
          <p:cNvSpPr txBox="1"/>
          <p:nvPr/>
        </p:nvSpPr>
        <p:spPr>
          <a:xfrm>
            <a:off x="4057650" y="3281362"/>
            <a:ext cx="1152525" cy="439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Resolution details marked mandatory. Stamps resolve timers.</a:t>
            </a:r>
            <a:endParaRPr/>
          </a:p>
        </p:txBody>
      </p:sp>
      <p:sp>
        <p:nvSpPr>
          <p:cNvPr id="611" name="Google Shape;611;p28"/>
          <p:cNvSpPr txBox="1"/>
          <p:nvPr/>
        </p:nvSpPr>
        <p:spPr>
          <a:xfrm>
            <a:off x="5629275" y="3052762"/>
            <a:ext cx="1210151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E60000"/>
                </a:solidFill>
                <a:latin typeface="Inter"/>
                <a:ea typeface="Inter"/>
                <a:cs typeface="Inter"/>
                <a:sym typeface="Inter"/>
              </a:rPr>
              <a:t>4. CLOSED</a:t>
            </a:r>
            <a:endParaRPr/>
          </a:p>
        </p:txBody>
      </p:sp>
      <p:sp>
        <p:nvSpPr>
          <p:cNvPr id="612" name="Google Shape;612;p28"/>
          <p:cNvSpPr txBox="1"/>
          <p:nvPr/>
        </p:nvSpPr>
        <p:spPr>
          <a:xfrm>
            <a:off x="5629275" y="3281362"/>
            <a:ext cx="1152525" cy="586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Logs locked automatically after validation confirmation.</a:t>
            </a:r>
            <a:endParaRPr/>
          </a:p>
        </p:txBody>
      </p:sp>
      <p:sp>
        <p:nvSpPr>
          <p:cNvPr id="613" name="Google Shape;613;p28"/>
          <p:cNvSpPr txBox="1"/>
          <p:nvPr/>
        </p:nvSpPr>
        <p:spPr>
          <a:xfrm>
            <a:off x="7743825" y="3904059"/>
            <a:ext cx="34480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Wrong Medicine: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Raised when received items mismatch requests.</a:t>
            </a:r>
            <a:endParaRPr/>
          </a:p>
        </p:txBody>
      </p:sp>
      <p:sp>
        <p:nvSpPr>
          <p:cNvPr id="614" name="Google Shape;614;p28"/>
          <p:cNvSpPr txBox="1"/>
          <p:nvPr/>
        </p:nvSpPr>
        <p:spPr>
          <a:xfrm>
            <a:off x="7743825" y="4418409"/>
            <a:ext cx="34480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Delay: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Triggered on collection/processing SLA breach complaints.</a:t>
            </a:r>
            <a:endParaRPr/>
          </a:p>
        </p:txBody>
      </p:sp>
      <p:sp>
        <p:nvSpPr>
          <p:cNvPr id="615" name="Google Shape;615;p28"/>
          <p:cNvSpPr txBox="1"/>
          <p:nvPr/>
        </p:nvSpPr>
        <p:spPr>
          <a:xfrm>
            <a:off x="7743825" y="4932759"/>
            <a:ext cx="34480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Other: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Generic category capturing custom patient comments.</a:t>
            </a:r>
            <a:endParaRPr/>
          </a:p>
        </p:txBody>
      </p:sp>
      <p:pic>
        <p:nvPicPr>
          <p:cNvPr id="616" name="Google Shape;616;p2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550649" y="4009741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2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550649" y="4523184"/>
            <a:ext cx="857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p2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539037" y="5037534"/>
            <a:ext cx="114300" cy="1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E583D-3B0C-FC9B-82DD-32A4E0310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B06EC-7E7A-D918-950B-650D2C7589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pic>
        <p:nvPicPr>
          <p:cNvPr id="3" name="Google Shape;405;p23" descr="image.png">
            <a:extLst>
              <a:ext uri="{FF2B5EF4-FFF2-40B4-BE49-F238E27FC236}">
                <a16:creationId xmlns:a16="http://schemas.microsoft.com/office/drawing/2014/main" id="{F7FEFBB5-CC5F-EDBE-B5FC-98028261BF0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E4855CC-3314-15F0-3661-FF753F7DCCAC}"/>
              </a:ext>
            </a:extLst>
          </p:cNvPr>
          <p:cNvSpPr txBox="1"/>
          <p:nvPr/>
        </p:nvSpPr>
        <p:spPr>
          <a:xfrm>
            <a:off x="5010606" y="2967335"/>
            <a:ext cx="22445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6071183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" name="Google Shape;624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5" name="Google Shape;625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6257925"/>
            <a:ext cx="106680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527101"/>
            <a:ext cx="3403550" cy="2773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94150" y="2527101"/>
            <a:ext cx="3403550" cy="2773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p2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26300" y="2527101"/>
            <a:ext cx="3403699" cy="2773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p2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57275" y="4529137"/>
            <a:ext cx="2813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p2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689425" y="4395787"/>
            <a:ext cx="28130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p2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321575" y="4395787"/>
            <a:ext cx="2813149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29"/>
          <p:cNvSpPr txBox="1"/>
          <p:nvPr/>
        </p:nvSpPr>
        <p:spPr>
          <a:xfrm>
            <a:off x="762000" y="571500"/>
            <a:ext cx="92011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E60000"/>
                </a:solidFill>
                <a:latin typeface="Poppins"/>
                <a:ea typeface="Poppins"/>
                <a:cs typeface="Poppins"/>
                <a:sym typeface="Poppins"/>
              </a:rPr>
              <a:t>CHALLENGES &amp; LEARNINGS</a:t>
            </a:r>
            <a:endParaRPr dirty="0"/>
          </a:p>
        </p:txBody>
      </p:sp>
      <p:sp>
        <p:nvSpPr>
          <p:cNvPr id="635" name="Google Shape;635;p29"/>
          <p:cNvSpPr txBox="1"/>
          <p:nvPr/>
        </p:nvSpPr>
        <p:spPr>
          <a:xfrm>
            <a:off x="762000" y="2050851"/>
            <a:ext cx="112014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Platform Obstacles Encountered &amp; Scoped Application Architecture Solutions</a:t>
            </a:r>
            <a:endParaRPr/>
          </a:p>
        </p:txBody>
      </p:sp>
      <p:sp>
        <p:nvSpPr>
          <p:cNvPr id="637" name="Google Shape;637;p29"/>
          <p:cNvSpPr txBox="1"/>
          <p:nvPr/>
        </p:nvSpPr>
        <p:spPr>
          <a:xfrm>
            <a:off x="762000" y="6424612"/>
            <a:ext cx="16573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CHALLENGES &amp; RESOLUTIONS</a:t>
            </a:r>
            <a:endParaRPr/>
          </a:p>
        </p:txBody>
      </p:sp>
      <p:sp>
        <p:nvSpPr>
          <p:cNvPr id="638" name="Google Shape;638;p29"/>
          <p:cNvSpPr txBox="1"/>
          <p:nvPr/>
        </p:nvSpPr>
        <p:spPr>
          <a:xfrm>
            <a:off x="11306175" y="6410325"/>
            <a:ext cx="1238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E60000"/>
                </a:solidFill>
                <a:latin typeface="Poppins"/>
                <a:ea typeface="Poppins"/>
                <a:cs typeface="Poppins"/>
                <a:sym typeface="Poppins"/>
              </a:rPr>
              <a:t>17</a:t>
            </a:r>
            <a:endParaRPr/>
          </a:p>
        </p:txBody>
      </p:sp>
      <p:pic>
        <p:nvPicPr>
          <p:cNvPr id="639" name="Google Shape;639;p2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57275" y="2850951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29"/>
          <p:cNvSpPr txBox="1"/>
          <p:nvPr/>
        </p:nvSpPr>
        <p:spPr>
          <a:xfrm>
            <a:off x="1057275" y="3517701"/>
            <a:ext cx="29536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Medicine Dropdown Hidden</a:t>
            </a:r>
            <a:endParaRPr/>
          </a:p>
        </p:txBody>
      </p:sp>
      <p:sp>
        <p:nvSpPr>
          <p:cNvPr id="641" name="Google Shape;641;p29"/>
          <p:cNvSpPr txBox="1"/>
          <p:nvPr/>
        </p:nvSpPr>
        <p:spPr>
          <a:xfrm>
            <a:off x="1057275" y="3774876"/>
            <a:ext cx="28130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Root Cause:</a:t>
            </a:r>
            <a:r>
              <a:rPr lang="en-US" sz="9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Reference field dropdown calls require default table privileges not granted to base Customer roles, making search components completely invisible.</a:t>
            </a:r>
            <a:endParaRPr dirty="0"/>
          </a:p>
        </p:txBody>
      </p:sp>
      <p:pic>
        <p:nvPicPr>
          <p:cNvPr id="642" name="Google Shape;642;p29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689425" y="2850951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29"/>
          <p:cNvSpPr txBox="1"/>
          <p:nvPr/>
        </p:nvSpPr>
        <p:spPr>
          <a:xfrm>
            <a:off x="4689425" y="3517701"/>
            <a:ext cx="29536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Cross-Scope Actions Blocked</a:t>
            </a:r>
            <a:endParaRPr/>
          </a:p>
        </p:txBody>
      </p:sp>
      <p:sp>
        <p:nvSpPr>
          <p:cNvPr id="644" name="Google Shape;644;p29"/>
          <p:cNvSpPr txBox="1"/>
          <p:nvPr/>
        </p:nvSpPr>
        <p:spPr>
          <a:xfrm>
            <a:off x="4689425" y="3774876"/>
            <a:ext cx="2813000" cy="479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Root Cause:</a:t>
            </a:r>
            <a:r>
              <a:rPr lang="en-US" sz="9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Scoped application container restricted from executing writes to default catalog tables (</a:t>
            </a:r>
            <a:r>
              <a:rPr lang="en-US" sz="900" b="0" i="0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sc_req_item</a:t>
            </a:r>
            <a:r>
              <a:rPr lang="en-US" sz="9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) out of container box.</a:t>
            </a:r>
            <a:endParaRPr dirty="0"/>
          </a:p>
        </p:txBody>
      </p:sp>
      <p:pic>
        <p:nvPicPr>
          <p:cNvPr id="645" name="Google Shape;645;p29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321575" y="2850951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29"/>
          <p:cNvSpPr txBox="1"/>
          <p:nvPr/>
        </p:nvSpPr>
        <p:spPr>
          <a:xfrm>
            <a:off x="8321575" y="3517701"/>
            <a:ext cx="2953806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GlideAjax Calls Failing</a:t>
            </a:r>
            <a:endParaRPr/>
          </a:p>
        </p:txBody>
      </p:sp>
      <p:sp>
        <p:nvSpPr>
          <p:cNvPr id="647" name="Google Shape;647;p29"/>
          <p:cNvSpPr txBox="1"/>
          <p:nvPr/>
        </p:nvSpPr>
        <p:spPr>
          <a:xfrm>
            <a:off x="8321575" y="3774876"/>
            <a:ext cx="2813149" cy="479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Root Cause:</a:t>
            </a: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Client scripts failed to fetch pricing information dynamically because script includes lacked standard callable permissions.</a:t>
            </a:r>
            <a:endParaRPr/>
          </a:p>
        </p:txBody>
      </p:sp>
      <p:pic>
        <p:nvPicPr>
          <p:cNvPr id="648" name="Google Shape;648;p29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181100" y="297477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29"/>
          <p:cNvSpPr txBox="1"/>
          <p:nvPr/>
        </p:nvSpPr>
        <p:spPr>
          <a:xfrm>
            <a:off x="1162050" y="4633912"/>
            <a:ext cx="46672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E60000"/>
                </a:solidFill>
                <a:latin typeface="Inter"/>
                <a:ea typeface="Inter"/>
                <a:cs typeface="Inter"/>
                <a:sym typeface="Inter"/>
              </a:rPr>
              <a:t>Solution:</a:t>
            </a:r>
            <a:endParaRPr/>
          </a:p>
        </p:txBody>
      </p:sp>
      <p:sp>
        <p:nvSpPr>
          <p:cNvPr id="650" name="Google Shape;650;p29"/>
          <p:cNvSpPr txBox="1"/>
          <p:nvPr/>
        </p:nvSpPr>
        <p:spPr>
          <a:xfrm>
            <a:off x="2905125" y="4643437"/>
            <a:ext cx="5715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E60000"/>
                </a:solidFill>
                <a:latin typeface="Inter"/>
                <a:ea typeface="Inter"/>
                <a:cs typeface="Inter"/>
                <a:sym typeface="Inter"/>
              </a:rPr>
              <a:t>query_range</a:t>
            </a:r>
            <a:endParaRPr/>
          </a:p>
        </p:txBody>
      </p:sp>
      <p:pic>
        <p:nvPicPr>
          <p:cNvPr id="652" name="Google Shape;652;p29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784675" y="2974776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29"/>
          <p:cNvSpPr txBox="1"/>
          <p:nvPr/>
        </p:nvSpPr>
        <p:spPr>
          <a:xfrm>
            <a:off x="4794200" y="4500562"/>
            <a:ext cx="46672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E60000"/>
                </a:solidFill>
                <a:latin typeface="Inter"/>
                <a:ea typeface="Inter"/>
                <a:cs typeface="Inter"/>
                <a:sym typeface="Inter"/>
              </a:rPr>
              <a:t>Solution:</a:t>
            </a:r>
            <a:endParaRPr/>
          </a:p>
        </p:txBody>
      </p:sp>
      <p:pic>
        <p:nvPicPr>
          <p:cNvPr id="654" name="Google Shape;654;p29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459688" y="2974776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29"/>
          <p:cNvSpPr txBox="1"/>
          <p:nvPr/>
        </p:nvSpPr>
        <p:spPr>
          <a:xfrm>
            <a:off x="8426350" y="4500562"/>
            <a:ext cx="46672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E60000"/>
                </a:solidFill>
                <a:latin typeface="Inter"/>
                <a:ea typeface="Inter"/>
                <a:cs typeface="Inter"/>
                <a:sym typeface="Inter"/>
              </a:rPr>
              <a:t>Solution:</a:t>
            </a:r>
            <a:endParaRPr/>
          </a:p>
        </p:txBody>
      </p:sp>
      <p:sp>
        <p:nvSpPr>
          <p:cNvPr id="656" name="Google Shape;656;p29"/>
          <p:cNvSpPr txBox="1"/>
          <p:nvPr/>
        </p:nvSpPr>
        <p:spPr>
          <a:xfrm>
            <a:off x="9559825" y="4510087"/>
            <a:ext cx="93345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E60000"/>
                </a:solidFill>
                <a:latin typeface="Inter"/>
                <a:ea typeface="Inter"/>
                <a:cs typeface="Inter"/>
                <a:sym typeface="Inter"/>
              </a:rPr>
              <a:t>client_callable = true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23">
          <a:extLst>
            <a:ext uri="{FF2B5EF4-FFF2-40B4-BE49-F238E27FC236}">
              <a16:creationId xmlns:a16="http://schemas.microsoft.com/office/drawing/2014/main" id="{CB4CD1D8-ACAA-6877-934A-A93AF49D7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" name="Google Shape;624;p29" descr="image.png">
            <a:extLst>
              <a:ext uri="{FF2B5EF4-FFF2-40B4-BE49-F238E27FC236}">
                <a16:creationId xmlns:a16="http://schemas.microsoft.com/office/drawing/2014/main" id="{8B417A5C-E687-4F93-2706-B166E1B17D8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5" name="Google Shape;625;p29" descr="image.png">
            <a:extLst>
              <a:ext uri="{FF2B5EF4-FFF2-40B4-BE49-F238E27FC236}">
                <a16:creationId xmlns:a16="http://schemas.microsoft.com/office/drawing/2014/main" id="{405A688E-A0EA-FFFE-8C2C-834388E5FEC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6257925"/>
            <a:ext cx="10668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29">
            <a:extLst>
              <a:ext uri="{FF2B5EF4-FFF2-40B4-BE49-F238E27FC236}">
                <a16:creationId xmlns:a16="http://schemas.microsoft.com/office/drawing/2014/main" id="{48B02B05-1892-ED16-5808-DBC895149BF9}"/>
              </a:ext>
            </a:extLst>
          </p:cNvPr>
          <p:cNvSpPr txBox="1"/>
          <p:nvPr/>
        </p:nvSpPr>
        <p:spPr>
          <a:xfrm>
            <a:off x="762000" y="618180"/>
            <a:ext cx="920115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E60000"/>
                </a:solidFill>
                <a:latin typeface="Poppins"/>
                <a:ea typeface="Poppins"/>
                <a:cs typeface="Poppins"/>
                <a:sym typeface="Poppins"/>
              </a:rPr>
              <a:t>Conclusion &amp; Achievements</a:t>
            </a:r>
          </a:p>
        </p:txBody>
      </p:sp>
      <p:sp>
        <p:nvSpPr>
          <p:cNvPr id="638" name="Google Shape;638;p29">
            <a:extLst>
              <a:ext uri="{FF2B5EF4-FFF2-40B4-BE49-F238E27FC236}">
                <a16:creationId xmlns:a16="http://schemas.microsoft.com/office/drawing/2014/main" id="{E907B7BB-DFAD-8DB3-3805-A7FAD2803DC8}"/>
              </a:ext>
            </a:extLst>
          </p:cNvPr>
          <p:cNvSpPr txBox="1"/>
          <p:nvPr/>
        </p:nvSpPr>
        <p:spPr>
          <a:xfrm>
            <a:off x="11306175" y="6410325"/>
            <a:ext cx="1238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E60000"/>
                </a:solidFill>
                <a:latin typeface="Poppins"/>
                <a:ea typeface="Poppins"/>
                <a:cs typeface="Poppins"/>
                <a:sym typeface="Poppins"/>
              </a:rPr>
              <a:t>17</a:t>
            </a:r>
            <a:endParaRPr/>
          </a:p>
        </p:txBody>
      </p:sp>
      <p:sp>
        <p:nvSpPr>
          <p:cNvPr id="11" name="Google Shape;417;p30">
            <a:extLst>
              <a:ext uri="{FF2B5EF4-FFF2-40B4-BE49-F238E27FC236}">
                <a16:creationId xmlns:a16="http://schemas.microsoft.com/office/drawing/2014/main" id="{EC560626-D703-E677-28E8-83B53C294C61}"/>
              </a:ext>
            </a:extLst>
          </p:cNvPr>
          <p:cNvSpPr txBox="1"/>
          <p:nvPr/>
        </p:nvSpPr>
        <p:spPr>
          <a:xfrm>
            <a:off x="6200775" y="2121694"/>
            <a:ext cx="55506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E60000"/>
                </a:solidFill>
                <a:latin typeface="Poppins" panose="00000500000000000000" pitchFamily="2" charset="0"/>
                <a:ea typeface="Quattrocento Sans"/>
                <a:cs typeface="Poppins" panose="00000500000000000000" pitchFamily="2" charset="0"/>
                <a:sym typeface="Quattrocento Sans"/>
              </a:rPr>
              <a:t>Project Impact</a:t>
            </a:r>
            <a:endParaRPr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Google Shape;418;p30">
            <a:extLst>
              <a:ext uri="{FF2B5EF4-FFF2-40B4-BE49-F238E27FC236}">
                <a16:creationId xmlns:a16="http://schemas.microsoft.com/office/drawing/2014/main" id="{73DB97EA-0DBC-BC44-668A-3095174D178E}"/>
              </a:ext>
            </a:extLst>
          </p:cNvPr>
          <p:cNvSpPr txBox="1"/>
          <p:nvPr/>
        </p:nvSpPr>
        <p:spPr>
          <a:xfrm>
            <a:off x="6381750" y="271819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" name="Google Shape;419;p30">
            <a:extLst>
              <a:ext uri="{FF2B5EF4-FFF2-40B4-BE49-F238E27FC236}">
                <a16:creationId xmlns:a16="http://schemas.microsoft.com/office/drawing/2014/main" id="{DD7FA078-D77C-3DFF-08B4-95ED90ABDCA5}"/>
              </a:ext>
            </a:extLst>
          </p:cNvPr>
          <p:cNvSpPr txBox="1"/>
          <p:nvPr/>
        </p:nvSpPr>
        <p:spPr>
          <a:xfrm>
            <a:off x="6486525" y="2616994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Successfully delivered all 10 user stories across 3 distinct personas.</a:t>
            </a:r>
            <a:endParaRPr dirty="0"/>
          </a:p>
        </p:txBody>
      </p:sp>
      <p:sp>
        <p:nvSpPr>
          <p:cNvPr id="14" name="Google Shape;420;p30">
            <a:extLst>
              <a:ext uri="{FF2B5EF4-FFF2-40B4-BE49-F238E27FC236}">
                <a16:creationId xmlns:a16="http://schemas.microsoft.com/office/drawing/2014/main" id="{046DCBBA-4CE8-FF03-0348-F8079AEDB9B7}"/>
              </a:ext>
            </a:extLst>
          </p:cNvPr>
          <p:cNvSpPr txBox="1"/>
          <p:nvPr/>
        </p:nvSpPr>
        <p:spPr>
          <a:xfrm>
            <a:off x="6381750" y="344209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5" name="Google Shape;421;p30">
            <a:extLst>
              <a:ext uri="{FF2B5EF4-FFF2-40B4-BE49-F238E27FC236}">
                <a16:creationId xmlns:a16="http://schemas.microsoft.com/office/drawing/2014/main" id="{DE224A8E-2A29-3117-031E-3943D1A3DA25}"/>
              </a:ext>
            </a:extLst>
          </p:cNvPr>
          <p:cNvSpPr txBox="1"/>
          <p:nvPr/>
        </p:nvSpPr>
        <p:spPr>
          <a:xfrm>
            <a:off x="6486525" y="3340894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Transformed manual, paper-based work into a scalable, auditable digital platform.</a:t>
            </a:r>
            <a:endParaRPr dirty="0"/>
          </a:p>
        </p:txBody>
      </p:sp>
      <p:sp>
        <p:nvSpPr>
          <p:cNvPr id="16" name="Google Shape;422;p30">
            <a:extLst>
              <a:ext uri="{FF2B5EF4-FFF2-40B4-BE49-F238E27FC236}">
                <a16:creationId xmlns:a16="http://schemas.microsoft.com/office/drawing/2014/main" id="{F7E0ABDB-C85E-2732-2A48-858380639218}"/>
              </a:ext>
            </a:extLst>
          </p:cNvPr>
          <p:cNvSpPr txBox="1"/>
          <p:nvPr/>
        </p:nvSpPr>
        <p:spPr>
          <a:xfrm>
            <a:off x="6381750" y="416599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" name="Google Shape;423;p30">
            <a:extLst>
              <a:ext uri="{FF2B5EF4-FFF2-40B4-BE49-F238E27FC236}">
                <a16:creationId xmlns:a16="http://schemas.microsoft.com/office/drawing/2014/main" id="{5A5C76DD-54A4-4979-A1F5-40BD396FC764}"/>
              </a:ext>
            </a:extLst>
          </p:cNvPr>
          <p:cNvSpPr txBox="1"/>
          <p:nvPr/>
        </p:nvSpPr>
        <p:spPr>
          <a:xfrm>
            <a:off x="6486525" y="4064794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Enforced strict SLAs to vastly improve the customer experience and response times.</a:t>
            </a:r>
            <a:endParaRPr/>
          </a:p>
        </p:txBody>
      </p:sp>
      <p:sp>
        <p:nvSpPr>
          <p:cNvPr id="18" name="Google Shape;424;p30">
            <a:extLst>
              <a:ext uri="{FF2B5EF4-FFF2-40B4-BE49-F238E27FC236}">
                <a16:creationId xmlns:a16="http://schemas.microsoft.com/office/drawing/2014/main" id="{581D10B7-18B6-BB58-A42C-DDA6C05FE093}"/>
              </a:ext>
            </a:extLst>
          </p:cNvPr>
          <p:cNvSpPr txBox="1"/>
          <p:nvPr/>
        </p:nvSpPr>
        <p:spPr>
          <a:xfrm>
            <a:off x="6381750" y="488989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" name="Google Shape;425;p30">
            <a:extLst>
              <a:ext uri="{FF2B5EF4-FFF2-40B4-BE49-F238E27FC236}">
                <a16:creationId xmlns:a16="http://schemas.microsoft.com/office/drawing/2014/main" id="{E139ECCB-052C-DE15-C19B-042986D3F63F}"/>
              </a:ext>
            </a:extLst>
          </p:cNvPr>
          <p:cNvSpPr txBox="1"/>
          <p:nvPr/>
        </p:nvSpPr>
        <p:spPr>
          <a:xfrm>
            <a:off x="6486525" y="4788694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Guaranteed patient safety by systematically preventing the sale of expired stock.</a:t>
            </a:r>
            <a:endParaRPr/>
          </a:p>
        </p:txBody>
      </p:sp>
      <p:sp>
        <p:nvSpPr>
          <p:cNvPr id="20" name="Google Shape;415;p30">
            <a:extLst>
              <a:ext uri="{FF2B5EF4-FFF2-40B4-BE49-F238E27FC236}">
                <a16:creationId xmlns:a16="http://schemas.microsoft.com/office/drawing/2014/main" id="{2460B143-C368-A3FF-691B-6FE21A531840}"/>
              </a:ext>
            </a:extLst>
          </p:cNvPr>
          <p:cNvSpPr txBox="1"/>
          <p:nvPr/>
        </p:nvSpPr>
        <p:spPr>
          <a:xfrm>
            <a:off x="600075" y="2736512"/>
            <a:ext cx="5286375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i="0" u="none" strike="noStrike" cap="none" dirty="0">
                <a:solidFill>
                  <a:srgbClr val="E60000"/>
                </a:solidFill>
                <a:latin typeface="Poppins" panose="00000500000000000000" pitchFamily="2" charset="0"/>
                <a:ea typeface="Quattrocento Sans"/>
                <a:cs typeface="Poppins" panose="00000500000000000000" pitchFamily="2" charset="0"/>
                <a:sym typeface="Quattrocento Sans"/>
              </a:rPr>
              <a:t>100%</a:t>
            </a:r>
            <a:endParaRPr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Google Shape;416;p30">
            <a:extLst>
              <a:ext uri="{FF2B5EF4-FFF2-40B4-BE49-F238E27FC236}">
                <a16:creationId xmlns:a16="http://schemas.microsoft.com/office/drawing/2014/main" id="{25045A50-968F-DA8D-C995-3C0FE31E981D}"/>
              </a:ext>
            </a:extLst>
          </p:cNvPr>
          <p:cNvSpPr txBox="1"/>
          <p:nvPr/>
        </p:nvSpPr>
        <p:spPr>
          <a:xfrm>
            <a:off x="457200" y="4381019"/>
            <a:ext cx="52863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1E293B"/>
                </a:solidFill>
                <a:latin typeface="Poppins" panose="00000500000000000000" pitchFamily="2" charset="0"/>
                <a:ea typeface="Inter"/>
                <a:cs typeface="Poppins" panose="00000500000000000000" pitchFamily="2" charset="0"/>
                <a:sym typeface="Inter"/>
              </a:rPr>
              <a:t>Automated Workflow</a:t>
            </a:r>
            <a:endParaRPr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71018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61">
          <a:extLst>
            <a:ext uri="{FF2B5EF4-FFF2-40B4-BE49-F238E27FC236}">
              <a16:creationId xmlns:a16="http://schemas.microsoft.com/office/drawing/2014/main" id="{62B64B4A-1170-3C9F-5C45-F0A317AFD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2" name="Google Shape;662;p30" descr="image.png">
            <a:extLst>
              <a:ext uri="{FF2B5EF4-FFF2-40B4-BE49-F238E27FC236}">
                <a16:creationId xmlns:a16="http://schemas.microsoft.com/office/drawing/2014/main" id="{55CE51FD-FFA8-19B9-7658-4A09A77D152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377;p30">
            <a:extLst>
              <a:ext uri="{FF2B5EF4-FFF2-40B4-BE49-F238E27FC236}">
                <a16:creationId xmlns:a16="http://schemas.microsoft.com/office/drawing/2014/main" id="{4591D775-EF39-C7F2-F180-83F78BC21D97}"/>
              </a:ext>
            </a:extLst>
          </p:cNvPr>
          <p:cNvSpPr txBox="1"/>
          <p:nvPr/>
        </p:nvSpPr>
        <p:spPr>
          <a:xfrm>
            <a:off x="295275" y="2062162"/>
            <a:ext cx="1160145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 dirty="0">
                <a:solidFill>
                  <a:srgbClr val="E60000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 dirty="0"/>
          </a:p>
        </p:txBody>
      </p:sp>
      <p:sp>
        <p:nvSpPr>
          <p:cNvPr id="3" name="Google Shape;378;p30">
            <a:extLst>
              <a:ext uri="{FF2B5EF4-FFF2-40B4-BE49-F238E27FC236}">
                <a16:creationId xmlns:a16="http://schemas.microsoft.com/office/drawing/2014/main" id="{A2DCEACC-CB84-9CB9-D5D3-74FD3CCB5FC9}"/>
              </a:ext>
            </a:extLst>
          </p:cNvPr>
          <p:cNvSpPr txBox="1"/>
          <p:nvPr/>
        </p:nvSpPr>
        <p:spPr>
          <a:xfrm>
            <a:off x="571500" y="3681412"/>
            <a:ext cx="11049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Thank you for your time.</a:t>
            </a:r>
            <a:endParaRPr dirty="0"/>
          </a:p>
        </p:txBody>
      </p:sp>
      <p:sp>
        <p:nvSpPr>
          <p:cNvPr id="4" name="Google Shape;379;p30">
            <a:extLst>
              <a:ext uri="{FF2B5EF4-FFF2-40B4-BE49-F238E27FC236}">
                <a16:creationId xmlns:a16="http://schemas.microsoft.com/office/drawing/2014/main" id="{3CD35743-2845-D51E-BB63-18E0365639A9}"/>
              </a:ext>
            </a:extLst>
          </p:cNvPr>
          <p:cNvSpPr txBox="1"/>
          <p:nvPr/>
        </p:nvSpPr>
        <p:spPr>
          <a:xfrm>
            <a:off x="571500" y="4519612"/>
            <a:ext cx="11049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385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Pulse Pharmacy System</a:t>
            </a:r>
            <a:endParaRPr dirty="0"/>
          </a:p>
        </p:txBody>
      </p:sp>
      <p:pic>
        <p:nvPicPr>
          <p:cNvPr id="5" name="Google Shape;90;p13" descr="image.png">
            <a:extLst>
              <a:ext uri="{FF2B5EF4-FFF2-40B4-BE49-F238E27FC236}">
                <a16:creationId xmlns:a16="http://schemas.microsoft.com/office/drawing/2014/main" id="{44C1158F-05B4-3C9F-4D78-C7F45D9E563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43919" y="4472428"/>
            <a:ext cx="325561" cy="3705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52294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1559</Words>
  <Application>Microsoft Office PowerPoint</Application>
  <PresentationFormat>Widescreen</PresentationFormat>
  <Paragraphs>240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Inter SemiBold</vt:lpstr>
      <vt:lpstr>Poppins</vt:lpstr>
      <vt:lpstr>Inter Medium</vt:lpstr>
      <vt:lpstr>Lato</vt:lpstr>
      <vt:lpstr>Arial</vt:lpstr>
      <vt:lpstr>Poppins ExtraBold</vt:lpstr>
      <vt:lpstr>Inter</vt:lpstr>
      <vt:lpstr>Calibri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DEMO</vt:lpstr>
      <vt:lpstr>PowerPoint Presentation</vt:lpstr>
      <vt:lpstr>PowerPoint Presentation</vt:lpstr>
      <vt:lpstr>PowerPoint Presentation</vt:lpstr>
      <vt:lpstr>PowerPoint Presentation</vt:lpstr>
      <vt:lpstr>DEMO</vt:lpstr>
      <vt:lpstr>PowerPoint Presentation</vt:lpstr>
      <vt:lpstr>DEMO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Vega Laptop</dc:creator>
  <cp:lastModifiedBy>Mariam Mohamed</cp:lastModifiedBy>
  <cp:revision>6</cp:revision>
  <dcterms:modified xsi:type="dcterms:W3CDTF">2026-06-11T03:49:42Z</dcterms:modified>
</cp:coreProperties>
</file>